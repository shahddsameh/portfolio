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A0A"/>
    <a:srgbClr val="345372"/>
    <a:srgbClr val="224667"/>
    <a:srgbClr val="16335C"/>
    <a:srgbClr val="F5F5F5"/>
    <a:srgbClr val="153557"/>
    <a:srgbClr val="F9FAFC"/>
    <a:srgbClr val="000F23"/>
    <a:srgbClr val="000D1E"/>
    <a:srgbClr val="0110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A4DD2D-9418-C149-5951-613B5A693C09}" v="1" dt="2026-06-20T20:03:35.300"/>
    <p1510:client id="{10F9E529-5AD9-4577-87C5-10F91E017F7B}" v="155" dt="2026-06-22T04:16:45.415"/>
    <p1510:client id="{3120E8B6-A5D7-457A-A42C-364B995C9C2F}" v="118" dt="2026-06-20T19:42:50.090"/>
    <p1510:client id="{6845B3A3-8C3F-440E-8D18-6EF9F4DC4402}" v="592" dt="2026-06-22T05:18:45.949"/>
    <p1510:client id="{8D79414C-C7A9-4224-913F-FA64BBBA6E2A}" v="76" dt="2026-06-22T18:55:19.472"/>
    <p1510:client id="{96F1597A-D695-46FA-A3E2-D0AE9C6777FF}" v="45" dt="2026-06-22T03:40:52.637"/>
    <p1510:client id="{CAD1474A-CD39-4954-B7F7-EFA5E5476CF3}" v="1" dt="2026-06-22T03:42:11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d ibrahem" userId="69b0e62dc62fa38f" providerId="Windows Live" clId="Web-{8D79414C-C7A9-4224-913F-FA64BBBA6E2A}"/>
    <pc:docChg chg="modSld">
      <pc:chgData name="renad ibrahem" userId="69b0e62dc62fa38f" providerId="Windows Live" clId="Web-{8D79414C-C7A9-4224-913F-FA64BBBA6E2A}" dt="2026-06-22T18:55:19.472" v="75" actId="1076"/>
      <pc:docMkLst>
        <pc:docMk/>
      </pc:docMkLst>
      <pc:sldChg chg="modSp">
        <pc:chgData name="renad ibrahem" userId="69b0e62dc62fa38f" providerId="Windows Live" clId="Web-{8D79414C-C7A9-4224-913F-FA64BBBA6E2A}" dt="2026-06-22T18:55:19.472" v="75" actId="1076"/>
        <pc:sldMkLst>
          <pc:docMk/>
          <pc:sldMk cId="0" sldId="262"/>
        </pc:sldMkLst>
        <pc:spChg chg="mod">
          <ac:chgData name="renad ibrahem" userId="69b0e62dc62fa38f" providerId="Windows Live" clId="Web-{8D79414C-C7A9-4224-913F-FA64BBBA6E2A}" dt="2026-06-22T18:52:33.533" v="5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2:33.533" v="6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2:33.564" v="8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2:33.580" v="9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4:50.613" v="56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4:50.628" v="57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4:50.660" v="59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4:50.691" v="60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2:44.330" v="10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2:44.330" v="11" actId="107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2:44.361" v="13" actId="107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2:44.377" v="14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5:11.894" v="66" actId="1076"/>
          <ac:spMkLst>
            <pc:docMk/>
            <pc:sldMk cId="0" sldId="262"/>
            <ac:spMk id="29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5:11.910" v="67" actId="1076"/>
          <ac:spMkLst>
            <pc:docMk/>
            <pc:sldMk cId="0" sldId="262"/>
            <ac:spMk id="30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5:11.941" v="69" actId="1076"/>
          <ac:spMkLst>
            <pc:docMk/>
            <pc:sldMk cId="0" sldId="262"/>
            <ac:spMk id="32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5:11.957" v="70" actId="1076"/>
          <ac:spMkLst>
            <pc:docMk/>
            <pc:sldMk cId="0" sldId="262"/>
            <ac:spMk id="33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4:23.878" v="46" actId="1076"/>
          <ac:spMkLst>
            <pc:docMk/>
            <pc:sldMk cId="0" sldId="262"/>
            <ac:spMk id="34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4:23.894" v="47" actId="1076"/>
          <ac:spMkLst>
            <pc:docMk/>
            <pc:sldMk cId="0" sldId="262"/>
            <ac:spMk id="35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4:23.925" v="49" actId="1076"/>
          <ac:spMkLst>
            <pc:docMk/>
            <pc:sldMk cId="0" sldId="262"/>
            <ac:spMk id="37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4:23.941" v="50" actId="1076"/>
          <ac:spMkLst>
            <pc:docMk/>
            <pc:sldMk cId="0" sldId="262"/>
            <ac:spMk id="38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5:19.410" v="71" actId="1076"/>
          <ac:spMkLst>
            <pc:docMk/>
            <pc:sldMk cId="0" sldId="262"/>
            <ac:spMk id="39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5:19.425" v="72" actId="1076"/>
          <ac:spMkLst>
            <pc:docMk/>
            <pc:sldMk cId="0" sldId="262"/>
            <ac:spMk id="40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5:19.457" v="74" actId="1076"/>
          <ac:spMkLst>
            <pc:docMk/>
            <pc:sldMk cId="0" sldId="262"/>
            <ac:spMk id="42" creationId="{00000000-0000-0000-0000-000000000000}"/>
          </ac:spMkLst>
        </pc:spChg>
        <pc:spChg chg="mod">
          <ac:chgData name="renad ibrahem" userId="69b0e62dc62fa38f" providerId="Windows Live" clId="Web-{8D79414C-C7A9-4224-913F-FA64BBBA6E2A}" dt="2026-06-22T18:55:19.472" v="75" actId="1076"/>
          <ac:spMkLst>
            <pc:docMk/>
            <pc:sldMk cId="0" sldId="262"/>
            <ac:spMk id="43" creationId="{00000000-0000-0000-0000-000000000000}"/>
          </ac:spMkLst>
        </pc:spChg>
        <pc:picChg chg="mod">
          <ac:chgData name="renad ibrahem" userId="69b0e62dc62fa38f" providerId="Windows Live" clId="Web-{8D79414C-C7A9-4224-913F-FA64BBBA6E2A}" dt="2026-06-22T18:52:33.548" v="7" actId="1076"/>
          <ac:picMkLst>
            <pc:docMk/>
            <pc:sldMk cId="0" sldId="262"/>
            <ac:picMk id="11" creationId="{00000000-0000-0000-0000-000000000000}"/>
          </ac:picMkLst>
        </pc:picChg>
        <pc:picChg chg="mod">
          <ac:chgData name="renad ibrahem" userId="69b0e62dc62fa38f" providerId="Windows Live" clId="Web-{8D79414C-C7A9-4224-913F-FA64BBBA6E2A}" dt="2026-06-22T18:54:50.644" v="58" actId="1076"/>
          <ac:picMkLst>
            <pc:docMk/>
            <pc:sldMk cId="0" sldId="262"/>
            <ac:picMk id="16" creationId="{00000000-0000-0000-0000-000000000000}"/>
          </ac:picMkLst>
        </pc:picChg>
        <pc:picChg chg="mod">
          <ac:chgData name="renad ibrahem" userId="69b0e62dc62fa38f" providerId="Windows Live" clId="Web-{8D79414C-C7A9-4224-913F-FA64BBBA6E2A}" dt="2026-06-22T18:52:44.345" v="12" actId="1076"/>
          <ac:picMkLst>
            <pc:docMk/>
            <pc:sldMk cId="0" sldId="262"/>
            <ac:picMk id="21" creationId="{00000000-0000-0000-0000-000000000000}"/>
          </ac:picMkLst>
        </pc:picChg>
        <pc:picChg chg="mod">
          <ac:chgData name="renad ibrahem" userId="69b0e62dc62fa38f" providerId="Windows Live" clId="Web-{8D79414C-C7A9-4224-913F-FA64BBBA6E2A}" dt="2026-06-22T18:55:11.925" v="68" actId="1076"/>
          <ac:picMkLst>
            <pc:docMk/>
            <pc:sldMk cId="0" sldId="262"/>
            <ac:picMk id="31" creationId="{00000000-0000-0000-0000-000000000000}"/>
          </ac:picMkLst>
        </pc:picChg>
        <pc:picChg chg="mod">
          <ac:chgData name="renad ibrahem" userId="69b0e62dc62fa38f" providerId="Windows Live" clId="Web-{8D79414C-C7A9-4224-913F-FA64BBBA6E2A}" dt="2026-06-22T18:54:23.910" v="48" actId="1076"/>
          <ac:picMkLst>
            <pc:docMk/>
            <pc:sldMk cId="0" sldId="262"/>
            <ac:picMk id="36" creationId="{00000000-0000-0000-0000-000000000000}"/>
          </ac:picMkLst>
        </pc:picChg>
        <pc:picChg chg="mod">
          <ac:chgData name="renad ibrahem" userId="69b0e62dc62fa38f" providerId="Windows Live" clId="Web-{8D79414C-C7A9-4224-913F-FA64BBBA6E2A}" dt="2026-06-22T18:55:19.425" v="73" actId="1076"/>
          <ac:picMkLst>
            <pc:docMk/>
            <pc:sldMk cId="0" sldId="262"/>
            <ac:picMk id="4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A25031-0728-4609-8DFE-1B8FC2E606E1}" type="datetimeFigureOut">
              <a:t>6/22/2026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DE7B20-39F8-4B76-92C1-B27FA692263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6488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68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E92F4-08EC-3505-E271-AFB51F852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F2CF2-789D-0852-8FE1-C7A8AC71F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5310AC-D851-0AD4-E36E-6C7C2B890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C248D-E572-2151-DBBD-F23D187032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606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2.png"/><Relationship Id="rId10" Type="http://schemas.openxmlformats.org/officeDocument/2006/relationships/image" Target="../media/image26.png"/><Relationship Id="rId4" Type="http://schemas.openxmlformats.org/officeDocument/2006/relationships/image" Target="../media/image8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wasalaty_cover_logo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713232"/>
            <a:ext cx="3931920" cy="11612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331720"/>
            <a:ext cx="3845155" cy="17235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5600" b="1">
                <a:solidFill>
                  <a:srgbClr val="F8FAFC"/>
                </a:solidFill>
                <a:latin typeface="Aptos Display"/>
                <a:ea typeface="Cambria"/>
              </a:rPr>
              <a:t>Cairo Transit</a:t>
            </a:r>
            <a:endParaRPr lang="en-US">
              <a:latin typeface="Aptos Display"/>
            </a:endParaRPr>
          </a:p>
          <a:p>
            <a:pPr algn="l"/>
            <a:r>
              <a:rPr sz="5600" b="1">
                <a:solidFill>
                  <a:srgbClr val="F8FAFC"/>
                </a:solidFill>
                <a:latin typeface="Aptos Display"/>
                <a:ea typeface="Cambria"/>
              </a:rPr>
              <a:t>Reimagined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4078224"/>
            <a:ext cx="516636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D1DCEB"/>
                </a:solidFill>
                <a:latin typeface="Aptos"/>
              </a:rPr>
              <a:t>A smart public transit companion for route planning,</a:t>
            </a:r>
          </a:p>
          <a:p>
            <a:pPr algn="l"/>
            <a:r>
              <a:rPr sz="1600" b="0">
                <a:solidFill>
                  <a:srgbClr val="D1DCEB"/>
                </a:solidFill>
                <a:latin typeface="Aptos"/>
              </a:rPr>
              <a:t>digital tickets, operator scanning, and admin control.</a:t>
            </a:r>
          </a:p>
        </p:txBody>
      </p:sp>
      <p:pic>
        <p:nvPicPr>
          <p:cNvPr id="16" name="Picture 15" descr="A rectangular sign with a phone and text&#10;&#10;AI-generated content may be incorrect.">
            <a:extLst>
              <a:ext uri="{FF2B5EF4-FFF2-40B4-BE49-F238E27FC236}">
                <a16:creationId xmlns:a16="http://schemas.microsoft.com/office/drawing/2014/main" id="{EC31451C-1819-2242-6607-F5FCC99325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79" t="27211" r="981" b="28571"/>
          <a:stretch>
            <a:fillRect/>
          </a:stretch>
        </p:blipFill>
        <p:spPr>
          <a:xfrm>
            <a:off x="594796" y="4900899"/>
            <a:ext cx="4611440" cy="6643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9808" y="1225623"/>
            <a:ext cx="4151201" cy="7078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600" b="1">
                <a:solidFill>
                  <a:srgbClr val="F8FAFC"/>
                </a:solidFill>
                <a:latin typeface="Cambria"/>
                <a:ea typeface="Cambria"/>
              </a:rPr>
              <a:t>Team 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893135"/>
            <a:ext cx="48463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D1DCEB"/>
                </a:solidFill>
                <a:latin typeface="Aptos"/>
              </a:rPr>
              <a:t>Graduation Defense Presentation •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277183"/>
            <a:ext cx="530352" cy="36576"/>
          </a:xfrm>
          <a:prstGeom prst="rect">
            <a:avLst/>
          </a:prstGeom>
          <a:solidFill>
            <a:srgbClr val="FFB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E44057A-01A9-730C-4445-33A7E0A87C28}"/>
              </a:ext>
            </a:extLst>
          </p:cNvPr>
          <p:cNvGrpSpPr/>
          <p:nvPr/>
        </p:nvGrpSpPr>
        <p:grpSpPr>
          <a:xfrm>
            <a:off x="777339" y="2697480"/>
            <a:ext cx="5902970" cy="548640"/>
            <a:chOff x="771042" y="2697480"/>
            <a:chExt cx="5556606" cy="548640"/>
          </a:xfrm>
        </p:grpSpPr>
        <p:sp>
          <p:nvSpPr>
            <p:cNvPr id="6" name="Rounded Rectangle 5"/>
            <p:cNvSpPr/>
            <p:nvPr/>
          </p:nvSpPr>
          <p:spPr>
            <a:xfrm>
              <a:off x="771042" y="2697480"/>
              <a:ext cx="3903384" cy="548640"/>
            </a:xfrm>
            <a:prstGeom prst="roundRect">
              <a:avLst/>
            </a:prstGeom>
            <a:solidFill>
              <a:srgbClr val="02172B"/>
            </a:solidFill>
            <a:ln w="13335">
              <a:solidFill>
                <a:srgbClr val="FFBA0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Oval 6"/>
            <p:cNvSpPr/>
            <p:nvPr/>
          </p:nvSpPr>
          <p:spPr>
            <a:xfrm>
              <a:off x="987552" y="2770632"/>
              <a:ext cx="393192" cy="393192"/>
            </a:xfrm>
            <a:prstGeom prst="ellipse">
              <a:avLst/>
            </a:prstGeom>
            <a:solidFill>
              <a:srgbClr val="FFBA0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sz="1800" b="1">
                  <a:solidFill>
                    <a:srgbClr val="02172B"/>
                  </a:solidFill>
                  <a:latin typeface="Aptos Display"/>
                </a:rPr>
                <a:t>M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72768" y="2825496"/>
              <a:ext cx="4754880" cy="28346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850" b="0">
                  <a:solidFill>
                    <a:srgbClr val="F8FAFC"/>
                  </a:solidFill>
                  <a:latin typeface="Aptos"/>
                </a:rPr>
                <a:t>Mennatallah Ahmed Gomaa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2A2D8D3-3BCB-CDF9-1A08-3C05A259DB28}"/>
              </a:ext>
            </a:extLst>
          </p:cNvPr>
          <p:cNvGrpSpPr/>
          <p:nvPr/>
        </p:nvGrpSpPr>
        <p:grpSpPr>
          <a:xfrm>
            <a:off x="781270" y="3416331"/>
            <a:ext cx="5892741" cy="515589"/>
            <a:chOff x="781270" y="3403736"/>
            <a:chExt cx="5546378" cy="528184"/>
          </a:xfrm>
        </p:grpSpPr>
        <p:sp>
          <p:nvSpPr>
            <p:cNvPr id="9" name="Rounded Rectangle 8"/>
            <p:cNvSpPr/>
            <p:nvPr/>
          </p:nvSpPr>
          <p:spPr>
            <a:xfrm>
              <a:off x="781270" y="3403736"/>
              <a:ext cx="3903384" cy="528184"/>
            </a:xfrm>
            <a:prstGeom prst="roundRect">
              <a:avLst/>
            </a:prstGeom>
            <a:solidFill>
              <a:srgbClr val="02172B"/>
            </a:solidFill>
            <a:ln w="13335">
              <a:solidFill>
                <a:srgbClr val="FFBA0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Oval 9"/>
            <p:cNvSpPr/>
            <p:nvPr/>
          </p:nvSpPr>
          <p:spPr>
            <a:xfrm>
              <a:off x="987552" y="3456432"/>
              <a:ext cx="393192" cy="393192"/>
            </a:xfrm>
            <a:prstGeom prst="ellipse">
              <a:avLst/>
            </a:prstGeom>
            <a:solidFill>
              <a:srgbClr val="FFBA0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sz="1800" b="1">
                  <a:solidFill>
                    <a:srgbClr val="02172B"/>
                  </a:solidFill>
                  <a:latin typeface="Aptos Display"/>
                </a:rPr>
                <a:t>R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72768" y="3511296"/>
              <a:ext cx="4754880" cy="28346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850" b="0">
                  <a:solidFill>
                    <a:srgbClr val="F8FAFC"/>
                  </a:solidFill>
                  <a:latin typeface="Aptos"/>
                </a:rPr>
                <a:t>Renad Ibrahem Abdelhady</a:t>
              </a: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786384" y="4106865"/>
            <a:ext cx="4160398" cy="510855"/>
          </a:xfrm>
          <a:prstGeom prst="roundRect">
            <a:avLst/>
          </a:prstGeom>
          <a:solidFill>
            <a:srgbClr val="02172B"/>
          </a:solidFill>
          <a:ln w="13335">
            <a:solidFill>
              <a:srgbClr val="FFB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87552" y="4142232"/>
            <a:ext cx="393192" cy="393192"/>
          </a:xfrm>
          <a:prstGeom prst="ellipse">
            <a:avLst/>
          </a:prstGeom>
          <a:solidFill>
            <a:srgbClr val="FFB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800" b="1">
                <a:solidFill>
                  <a:srgbClr val="02172B"/>
                </a:solidFill>
                <a:latin typeface="Aptos Display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197096"/>
            <a:ext cx="475488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50" b="0">
                <a:solidFill>
                  <a:srgbClr val="F8FAFC"/>
                </a:solidFill>
                <a:latin typeface="Aptos"/>
              </a:rPr>
              <a:t>Sara Mohamed Abdelhamed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792665"/>
            <a:ext cx="4161582" cy="510855"/>
          </a:xfrm>
          <a:prstGeom prst="roundRect">
            <a:avLst/>
          </a:prstGeom>
          <a:solidFill>
            <a:srgbClr val="02172B"/>
          </a:solidFill>
          <a:ln w="13335">
            <a:solidFill>
              <a:srgbClr val="FFB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87552" y="4828032"/>
            <a:ext cx="393192" cy="393192"/>
          </a:xfrm>
          <a:prstGeom prst="ellipse">
            <a:avLst/>
          </a:prstGeom>
          <a:solidFill>
            <a:srgbClr val="FFB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GB" b="1">
                <a:solidFill>
                  <a:srgbClr val="02172B"/>
                </a:solidFill>
                <a:latin typeface="Aptos Display"/>
              </a:rPr>
              <a:t>S</a:t>
            </a:r>
            <a:endParaRPr lang="en-GB" sz="1800" b="1">
              <a:solidFill>
                <a:srgbClr val="02172B"/>
              </a:solidFill>
              <a:latin typeface="Aptos Display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72768" y="4882896"/>
            <a:ext cx="475488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50" b="0">
                <a:solidFill>
                  <a:srgbClr val="F8FAFC"/>
                </a:solidFill>
                <a:latin typeface="Aptos"/>
              </a:rPr>
              <a:t>Shahd Sameh Ahmed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5478465"/>
            <a:ext cx="4160398" cy="510855"/>
          </a:xfrm>
          <a:prstGeom prst="roundRect">
            <a:avLst/>
          </a:prstGeom>
          <a:solidFill>
            <a:srgbClr val="02172B"/>
          </a:solidFill>
          <a:ln w="13335">
            <a:solidFill>
              <a:srgbClr val="FFB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87552" y="5513832"/>
            <a:ext cx="393192" cy="393192"/>
          </a:xfrm>
          <a:prstGeom prst="ellipse">
            <a:avLst/>
          </a:prstGeom>
          <a:solidFill>
            <a:srgbClr val="FFB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800" b="1">
                <a:solidFill>
                  <a:srgbClr val="02172B"/>
                </a:solidFill>
                <a:latin typeface="Aptos Display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5568696"/>
            <a:ext cx="475488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50" b="0">
                <a:solidFill>
                  <a:srgbClr val="F8FAFC"/>
                </a:solidFill>
                <a:latin typeface="Aptos"/>
              </a:rPr>
              <a:t>Alaa Mostafa Abd elWahab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35653" y="6472091"/>
            <a:ext cx="121668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0" dirty="0" err="1">
                <a:solidFill>
                  <a:srgbClr val="D1DCEB"/>
                </a:solidFill>
                <a:latin typeface="Aptos"/>
              </a:rPr>
              <a:t>مواصلاتي</a:t>
            </a:r>
            <a:r>
              <a:rPr sz="1050" b="0" dirty="0">
                <a:solidFill>
                  <a:srgbClr val="D1DCEB"/>
                </a:solidFill>
                <a:latin typeface="Aptos"/>
              </a:rPr>
              <a:t>  ·  </a:t>
            </a:r>
            <a:r>
              <a:rPr sz="1050" b="0" dirty="0" err="1">
                <a:solidFill>
                  <a:srgbClr val="D1DCEB"/>
                </a:solidFill>
                <a:latin typeface="Aptos"/>
              </a:rPr>
              <a:t>Mwasalaty</a:t>
            </a:r>
            <a:endParaRPr lang="en-US" dirty="0" err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9808" y="951917"/>
            <a:ext cx="4263796" cy="6463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F8FAFC"/>
                </a:solidFill>
                <a:latin typeface="Cambria"/>
                <a:ea typeface="Cambria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591997"/>
            <a:ext cx="62179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D1DCEB"/>
                </a:solidFill>
                <a:latin typeface="Aptos"/>
              </a:rPr>
              <a:t>What we will cover in the Mwasalaty graduation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957757"/>
            <a:ext cx="566928" cy="36576"/>
          </a:xfrm>
          <a:prstGeom prst="rect">
            <a:avLst/>
          </a:prstGeom>
          <a:solidFill>
            <a:srgbClr val="FFB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86384" y="2532888"/>
            <a:ext cx="4800600" cy="585216"/>
          </a:xfrm>
          <a:prstGeom prst="roundRect">
            <a:avLst/>
          </a:prstGeom>
          <a:solidFill>
            <a:srgbClr val="02172B"/>
          </a:solidFill>
          <a:ln w="12700">
            <a:solidFill>
              <a:srgbClr val="FFB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6" y="2679192"/>
            <a:ext cx="47548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BA0A"/>
                </a:solidFill>
                <a:latin typeface="Aptos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5064" y="2670048"/>
            <a:ext cx="36118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Aptos"/>
              </a:rPr>
              <a:t>Project 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3310128"/>
            <a:ext cx="4800600" cy="585216"/>
          </a:xfrm>
          <a:prstGeom prst="roundRect">
            <a:avLst/>
          </a:prstGeom>
          <a:solidFill>
            <a:srgbClr val="02172B"/>
          </a:solidFill>
          <a:ln w="12700">
            <a:solidFill>
              <a:srgbClr val="23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6696" y="3456432"/>
            <a:ext cx="47548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BA0A"/>
                </a:solidFill>
                <a:latin typeface="Aptos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5064" y="3447288"/>
            <a:ext cx="36118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Aptos"/>
              </a:rPr>
              <a:t>Project Idea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4087368"/>
            <a:ext cx="4800600" cy="585216"/>
          </a:xfrm>
          <a:prstGeom prst="roundRect">
            <a:avLst/>
          </a:prstGeom>
          <a:solidFill>
            <a:srgbClr val="02172B"/>
          </a:solidFill>
          <a:ln w="12700">
            <a:solidFill>
              <a:srgbClr val="23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6" y="4233672"/>
            <a:ext cx="47548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BA0A"/>
                </a:solidFill>
                <a:latin typeface="Aptos Display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4224528"/>
            <a:ext cx="36118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Aptos"/>
              </a:rPr>
              <a:t>Target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864608"/>
            <a:ext cx="4800600" cy="585216"/>
          </a:xfrm>
          <a:prstGeom prst="roundRect">
            <a:avLst/>
          </a:prstGeom>
          <a:solidFill>
            <a:srgbClr val="02172B"/>
          </a:solidFill>
          <a:ln w="12700">
            <a:solidFill>
              <a:srgbClr val="23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" y="5010912"/>
            <a:ext cx="47548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BA0A"/>
                </a:solidFill>
                <a:latin typeface="Aptos Display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5064" y="5001768"/>
            <a:ext cx="36118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Aptos"/>
              </a:rPr>
              <a:t>Market Research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2532888"/>
            <a:ext cx="4800600" cy="585216"/>
          </a:xfrm>
          <a:prstGeom prst="roundRect">
            <a:avLst/>
          </a:prstGeom>
          <a:solidFill>
            <a:srgbClr val="02172B"/>
          </a:solidFill>
          <a:ln w="12700">
            <a:solidFill>
              <a:srgbClr val="23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37376" y="2679192"/>
            <a:ext cx="47548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BA0A"/>
                </a:solidFill>
                <a:latin typeface="Aptos Display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2670048"/>
            <a:ext cx="36118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Aptos"/>
              </a:rPr>
              <a:t>Problems Solved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3310128"/>
            <a:ext cx="4800600" cy="585216"/>
          </a:xfrm>
          <a:prstGeom prst="roundRect">
            <a:avLst/>
          </a:prstGeom>
          <a:solidFill>
            <a:srgbClr val="02172B"/>
          </a:solidFill>
          <a:ln w="12700">
            <a:solidFill>
              <a:srgbClr val="23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37376" y="3456432"/>
            <a:ext cx="47548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BA0A"/>
                </a:solidFill>
                <a:latin typeface="Aptos Display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4" y="3447288"/>
            <a:ext cx="36118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Aptos"/>
              </a:rPr>
              <a:t>Project Features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7064" y="4087368"/>
            <a:ext cx="4800600" cy="585216"/>
          </a:xfrm>
          <a:prstGeom prst="roundRect">
            <a:avLst/>
          </a:prstGeom>
          <a:solidFill>
            <a:srgbClr val="02172B"/>
          </a:solidFill>
          <a:ln w="12700">
            <a:solidFill>
              <a:srgbClr val="23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37376" y="4233672"/>
            <a:ext cx="47548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BA0A"/>
                </a:solidFill>
                <a:latin typeface="Aptos Display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4224528"/>
            <a:ext cx="36118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Aptos"/>
              </a:rPr>
              <a:t>Future Features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7064" y="4864608"/>
            <a:ext cx="4800600" cy="585216"/>
          </a:xfrm>
          <a:prstGeom prst="roundRect">
            <a:avLst/>
          </a:prstGeom>
          <a:solidFill>
            <a:srgbClr val="02172B"/>
          </a:solidFill>
          <a:ln w="12700">
            <a:solidFill>
              <a:srgbClr val="FFB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37376" y="5010912"/>
            <a:ext cx="47548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BA0A"/>
                </a:solidFill>
                <a:latin typeface="Aptos Display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5744" y="5001768"/>
            <a:ext cx="36118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Aptos"/>
              </a:rPr>
              <a:t>Conclusion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A6FF75-BF40-FD46-6E34-50FD31336B86}"/>
              </a:ext>
            </a:extLst>
          </p:cNvPr>
          <p:cNvSpPr txBox="1"/>
          <p:nvPr/>
        </p:nvSpPr>
        <p:spPr>
          <a:xfrm>
            <a:off x="10735653" y="6472091"/>
            <a:ext cx="121668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0" dirty="0" err="1">
                <a:solidFill>
                  <a:srgbClr val="D1DCEB"/>
                </a:solidFill>
                <a:latin typeface="Aptos"/>
              </a:rPr>
              <a:t>مواصلاتي</a:t>
            </a:r>
            <a:r>
              <a:rPr sz="1050" b="0" dirty="0">
                <a:solidFill>
                  <a:srgbClr val="D1DCEB"/>
                </a:solidFill>
                <a:latin typeface="Aptos"/>
              </a:rPr>
              <a:t>  ·  </a:t>
            </a:r>
            <a:r>
              <a:rPr sz="1050" b="0" dirty="0" err="1">
                <a:solidFill>
                  <a:srgbClr val="D1DCEB"/>
                </a:solidFill>
                <a:latin typeface="Aptos"/>
              </a:rPr>
              <a:t>Mwasalaty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3277352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1264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Mwasalaty?</a:t>
            </a:r>
            <a:endParaRPr lang="en-US" sz="1800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offline-first Progressive Web App that helps Cairo residents plan trips, track buses and metro lines, and pay for tickets digitally — built as an end-to-end project covering the passenger app, an operator scanner app, admin app, and a custom Cairo transit routing engine.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947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37398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/>
          </a:p>
        </p:txBody>
      </p:sp>
      <p:sp>
        <p:nvSpPr>
          <p:cNvPr id="10" name="Text 6"/>
          <p:cNvSpPr/>
          <p:nvPr/>
        </p:nvSpPr>
        <p:spPr>
          <a:xfrm>
            <a:off x="2697480" y="373989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TypeScript + Tailwind PWA</a:t>
            </a:r>
            <a:endParaRPr lang="en-US" sz="115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0682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42519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/>
          </a:p>
        </p:txBody>
      </p:sp>
      <p:sp>
        <p:nvSpPr>
          <p:cNvPr id="13" name="Text 8"/>
          <p:cNvSpPr/>
          <p:nvPr/>
        </p:nvSpPr>
        <p:spPr>
          <a:xfrm>
            <a:off x="2697480" y="42519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Express, Supabase Auth &amp; DB</a:t>
            </a:r>
            <a:endParaRPr lang="en-US" sz="115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818888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98448" y="476402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engine</a:t>
            </a:r>
            <a:endParaRPr lang="en-US" sz="1250"/>
          </a:p>
        </p:txBody>
      </p:sp>
      <p:sp>
        <p:nvSpPr>
          <p:cNvPr id="16" name="Text 10"/>
          <p:cNvSpPr/>
          <p:nvPr/>
        </p:nvSpPr>
        <p:spPr>
          <a:xfrm>
            <a:off x="2697480" y="476402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OpenTripPlanner (Cairo OSM + GTFS)</a:t>
            </a:r>
            <a:endParaRPr lang="en-US" sz="115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33095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98448" y="52760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app</a:t>
            </a:r>
            <a:endParaRPr lang="en-US" sz="1250"/>
          </a:p>
        </p:txBody>
      </p:sp>
      <p:sp>
        <p:nvSpPr>
          <p:cNvPr id="19" name="Text 12"/>
          <p:cNvSpPr/>
          <p:nvPr/>
        </p:nvSpPr>
        <p:spPr>
          <a:xfrm>
            <a:off x="2697480" y="527608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QR ticket scanner + sync queue</a:t>
            </a:r>
            <a:endParaRPr lang="en-US" sz="1150"/>
          </a:p>
        </p:txBody>
      </p:sp>
      <p:sp>
        <p:nvSpPr>
          <p:cNvPr id="20" name="Shape 13"/>
          <p:cNvSpPr/>
          <p:nvPr/>
        </p:nvSpPr>
        <p:spPr>
          <a:xfrm>
            <a:off x="6903720" y="1508760"/>
            <a:ext cx="4736592" cy="1207008"/>
          </a:xfrm>
          <a:prstGeom prst="roundRect">
            <a:avLst>
              <a:gd name="adj" fmla="val 7576"/>
            </a:avLst>
          </a:prstGeom>
          <a:solidFill>
            <a:srgbClr val="EAEEF5"/>
          </a:solidFill>
          <a:ln/>
        </p:spPr>
      </p:sp>
      <p:sp>
        <p:nvSpPr>
          <p:cNvPr id="21" name="Text 14"/>
          <p:cNvSpPr/>
          <p:nvPr/>
        </p:nvSpPr>
        <p:spPr>
          <a:xfrm>
            <a:off x="7132320" y="1508760"/>
            <a:ext cx="1894637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A"/>
                </a:solidFill>
                <a:latin typeface="Cambria"/>
                <a:ea typeface="Cambria"/>
              </a:rPr>
              <a:t>4</a:t>
            </a:r>
            <a:endParaRPr lang="ar-SA" dirty="0"/>
          </a:p>
        </p:txBody>
      </p:sp>
      <p:sp>
        <p:nvSpPr>
          <p:cNvPr id="22" name="Text 15"/>
          <p:cNvSpPr/>
          <p:nvPr/>
        </p:nvSpPr>
        <p:spPr>
          <a:xfrm>
            <a:off x="8798357" y="1508760"/>
            <a:ext cx="2699857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applications working together</a:t>
            </a:r>
            <a:endParaRPr lang="en-US" sz="1200"/>
          </a:p>
        </p:txBody>
      </p:sp>
      <p:sp>
        <p:nvSpPr>
          <p:cNvPr id="23" name="Shape 16"/>
          <p:cNvSpPr/>
          <p:nvPr/>
        </p:nvSpPr>
        <p:spPr>
          <a:xfrm>
            <a:off x="6903720" y="2852928"/>
            <a:ext cx="4736592" cy="1207008"/>
          </a:xfrm>
          <a:prstGeom prst="roundRect">
            <a:avLst>
              <a:gd name="adj" fmla="val 7576"/>
            </a:avLst>
          </a:prstGeom>
          <a:solidFill>
            <a:srgbClr val="E1F5EE"/>
          </a:solidFill>
          <a:ln/>
        </p:spPr>
      </p:sp>
      <p:sp>
        <p:nvSpPr>
          <p:cNvPr id="24" name="Text 17"/>
          <p:cNvSpPr/>
          <p:nvPr/>
        </p:nvSpPr>
        <p:spPr>
          <a:xfrm>
            <a:off x="7132320" y="2852928"/>
            <a:ext cx="1894637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2800" dirty="0"/>
          </a:p>
        </p:txBody>
      </p:sp>
      <p:sp>
        <p:nvSpPr>
          <p:cNvPr id="25" name="Text 18"/>
          <p:cNvSpPr/>
          <p:nvPr/>
        </p:nvSpPr>
        <p:spPr>
          <a:xfrm>
            <a:off x="8798357" y="2852928"/>
            <a:ext cx="2699857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work fully offline</a:t>
            </a:r>
            <a:endParaRPr lang="en-US" sz="1200"/>
          </a:p>
        </p:txBody>
      </p:sp>
      <p:sp>
        <p:nvSpPr>
          <p:cNvPr id="26" name="Shape 19"/>
          <p:cNvSpPr/>
          <p:nvPr/>
        </p:nvSpPr>
        <p:spPr>
          <a:xfrm>
            <a:off x="6903720" y="4197096"/>
            <a:ext cx="4736592" cy="1207008"/>
          </a:xfrm>
          <a:prstGeom prst="roundRect">
            <a:avLst>
              <a:gd name="adj" fmla="val 7576"/>
            </a:avLst>
          </a:prstGeom>
          <a:solidFill>
            <a:srgbClr val="FEF6E0"/>
          </a:solidFill>
          <a:ln/>
        </p:spPr>
      </p:sp>
      <p:sp>
        <p:nvSpPr>
          <p:cNvPr id="27" name="Text 20"/>
          <p:cNvSpPr/>
          <p:nvPr/>
        </p:nvSpPr>
        <p:spPr>
          <a:xfrm>
            <a:off x="7132320" y="4197096"/>
            <a:ext cx="1894637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8A6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/>
          </a:p>
        </p:txBody>
      </p:sp>
      <p:sp>
        <p:nvSpPr>
          <p:cNvPr id="28" name="Text 21"/>
          <p:cNvSpPr/>
          <p:nvPr/>
        </p:nvSpPr>
        <p:spPr>
          <a:xfrm>
            <a:off x="8798357" y="4197096"/>
            <a:ext cx="2699857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Custom-built Cairo routing engine</a:t>
            </a:r>
            <a:endParaRPr lang="en-US" sz="1200"/>
          </a:p>
        </p:txBody>
      </p:sp>
      <p:sp>
        <p:nvSpPr>
          <p:cNvPr id="29" name="Shape 22"/>
          <p:cNvSpPr/>
          <p:nvPr/>
        </p:nvSpPr>
        <p:spPr>
          <a:xfrm>
            <a:off x="6903720" y="5541264"/>
            <a:ext cx="4736592" cy="493776"/>
          </a:xfrm>
          <a:prstGeom prst="roundRect">
            <a:avLst>
              <a:gd name="adj" fmla="val 14815"/>
            </a:avLst>
          </a:prstGeom>
          <a:solidFill>
            <a:srgbClr val="000F23"/>
          </a:solidFill>
          <a:ln/>
        </p:spPr>
      </p:sp>
      <p:sp>
        <p:nvSpPr>
          <p:cNvPr id="30" name="Text 23"/>
          <p:cNvSpPr/>
          <p:nvPr/>
        </p:nvSpPr>
        <p:spPr>
          <a:xfrm>
            <a:off x="6903720" y="5541264"/>
            <a:ext cx="4736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Mwasalaty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 · 2026</a:t>
            </a:r>
            <a:endParaRPr lang="en-US" sz="1200" dirty="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6AF4D073-1853-C864-4E22-86695F96EBB7}"/>
              </a:ext>
            </a:extLst>
          </p:cNvPr>
          <p:cNvSpPr/>
          <p:nvPr/>
        </p:nvSpPr>
        <p:spPr>
          <a:xfrm>
            <a:off x="8294407" y="641692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مواصلاتي  ·  Mwasalaty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Idea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Cairo's public transit is vast but fragmented — buses, microbuses, and metro lines run with little digital information, leaving riders guessing about routes, timing, and fares.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212080" cy="18288"/>
          </a:xfrm>
          <a:prstGeom prst="rect">
            <a:avLst/>
          </a:prstGeom>
          <a:solidFill>
            <a:srgbClr val="D8DE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Mwasalaty's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idea: put one trustworthy, offline-friendly transit companion in every rider's pocket — combining route planning, live tracking intuition, and digital ticketing in a single lightweight app that works even on a weak connection.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61772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000F23"/>
          </a:solidFill>
          <a:ln/>
        </p:spPr>
        <p:txBody>
          <a:bodyPr/>
          <a:lstStyle/>
          <a:p>
            <a:endParaRPr lang="en-AE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86460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46177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“Transit information shouldn’t require a perfect signal.”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6126480" y="1463040"/>
            <a:ext cx="55321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55080" y="1709928"/>
            <a:ext cx="585216" cy="585216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4708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16093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500"/>
          </a:p>
        </p:txBody>
      </p:sp>
      <p:sp>
        <p:nvSpPr>
          <p:cNvPr id="14" name="Text 10"/>
          <p:cNvSpPr/>
          <p:nvPr/>
        </p:nvSpPr>
        <p:spPr>
          <a:xfrm>
            <a:off x="7132320" y="195681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 route from A to B across Cairo's transit network</a:t>
            </a:r>
            <a:endParaRPr lang="en-US" sz="1150"/>
          </a:p>
        </p:txBody>
      </p:sp>
      <p:sp>
        <p:nvSpPr>
          <p:cNvPr id="15" name="Shape 11"/>
          <p:cNvSpPr/>
          <p:nvPr/>
        </p:nvSpPr>
        <p:spPr>
          <a:xfrm>
            <a:off x="6126480" y="2706624"/>
            <a:ext cx="55321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55080" y="2953512"/>
            <a:ext cx="585216" cy="585216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09067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32320" y="28529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</a:t>
            </a:r>
            <a:endParaRPr lang="en-US" sz="1500"/>
          </a:p>
        </p:txBody>
      </p:sp>
      <p:sp>
        <p:nvSpPr>
          <p:cNvPr id="19" name="Text 14"/>
          <p:cNvSpPr/>
          <p:nvPr/>
        </p:nvSpPr>
        <p:spPr>
          <a:xfrm>
            <a:off x="7132320" y="3200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suggested route, line, and station along the way</a:t>
            </a:r>
            <a:endParaRPr lang="en-US" sz="1150"/>
          </a:p>
        </p:txBody>
      </p:sp>
      <p:sp>
        <p:nvSpPr>
          <p:cNvPr id="20" name="Shape 15"/>
          <p:cNvSpPr/>
          <p:nvPr/>
        </p:nvSpPr>
        <p:spPr>
          <a:xfrm>
            <a:off x="6126480" y="3950208"/>
            <a:ext cx="55321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355080" y="4197096"/>
            <a:ext cx="585216" cy="585216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33425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40965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</a:t>
            </a:r>
            <a:endParaRPr lang="en-US" sz="1500"/>
          </a:p>
        </p:txBody>
      </p:sp>
      <p:sp>
        <p:nvSpPr>
          <p:cNvPr id="24" name="Text 18"/>
          <p:cNvSpPr/>
          <p:nvPr/>
        </p:nvSpPr>
        <p:spPr>
          <a:xfrm>
            <a:off x="7132320" y="444398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and store digital tickets, scanned by operators on board</a:t>
            </a:r>
            <a:endParaRPr lang="en-US" sz="1150"/>
          </a:p>
        </p:txBody>
      </p:sp>
      <p:sp>
        <p:nvSpPr>
          <p:cNvPr id="25" name="Shape 19"/>
          <p:cNvSpPr/>
          <p:nvPr/>
        </p:nvSpPr>
        <p:spPr>
          <a:xfrm>
            <a:off x="6126480" y="5193792"/>
            <a:ext cx="55321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55080" y="5440680"/>
            <a:ext cx="585216" cy="585216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5577840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32320" y="53400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connected</a:t>
            </a:r>
            <a:endParaRPr lang="en-US" sz="1500"/>
          </a:p>
        </p:txBody>
      </p:sp>
      <p:sp>
        <p:nvSpPr>
          <p:cNvPr id="29" name="Text 22"/>
          <p:cNvSpPr/>
          <p:nvPr/>
        </p:nvSpPr>
        <p:spPr>
          <a:xfrm>
            <a:off x="7132320" y="56875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using core features even with no internet</a:t>
            </a:r>
            <a:endParaRPr lang="en-US" sz="1150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ACDD09D9-1FD7-0D48-A6E0-A00F9C21C959}"/>
              </a:ext>
            </a:extLst>
          </p:cNvPr>
          <p:cNvSpPr/>
          <p:nvPr/>
        </p:nvSpPr>
        <p:spPr>
          <a:xfrm>
            <a:off x="8294407" y="641692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مواصلاتي  ·  Mwasalaty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Mwasalaty is built for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70048" cy="301752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2121408"/>
            <a:ext cx="914400" cy="914400"/>
          </a:xfrm>
          <a:prstGeom prst="ellipse">
            <a:avLst/>
          </a:prstGeom>
          <a:solidFill>
            <a:srgbClr val="EAEEF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35000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20040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cheap, predictable daily commutes between home, school, and university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3355848" y="1828800"/>
            <a:ext cx="2670048" cy="301752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24528" y="2121408"/>
            <a:ext cx="914400" cy="9144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35000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38728" y="320040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commuters</a:t>
            </a:r>
            <a:endParaRPr lang="en-US" sz="1600"/>
          </a:p>
        </p:txBody>
      </p:sp>
      <p:sp>
        <p:nvSpPr>
          <p:cNvPr id="14" name="Text 10"/>
          <p:cNvSpPr/>
          <p:nvPr/>
        </p:nvSpPr>
        <p:spPr>
          <a:xfrm>
            <a:off x="3630168" y="374904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workers relying on buses and metro for fast, repeatable routines</a:t>
            </a:r>
            <a:endParaRPr lang="en-US" sz="1200"/>
          </a:p>
        </p:txBody>
      </p:sp>
      <p:sp>
        <p:nvSpPr>
          <p:cNvPr id="15" name="Shape 11"/>
          <p:cNvSpPr/>
          <p:nvPr/>
        </p:nvSpPr>
        <p:spPr>
          <a:xfrm>
            <a:off x="6163056" y="1828800"/>
            <a:ext cx="2670048" cy="301752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31736" y="2121408"/>
            <a:ext cx="914400" cy="914400"/>
          </a:xfrm>
          <a:prstGeom prst="ellipse">
            <a:avLst/>
          </a:prstGeom>
          <a:solidFill>
            <a:srgbClr val="FEF6E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36" y="235000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320040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Cairo residents</a:t>
            </a:r>
            <a:endParaRPr lang="en-US" sz="1600"/>
          </a:p>
        </p:txBody>
      </p:sp>
      <p:sp>
        <p:nvSpPr>
          <p:cNvPr id="19" name="Text 14"/>
          <p:cNvSpPr/>
          <p:nvPr/>
        </p:nvSpPr>
        <p:spPr>
          <a:xfrm>
            <a:off x="6437376" y="374904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navigating an informal transit network without official schedules</a:t>
            </a:r>
            <a:endParaRPr lang="en-US" sz="1200"/>
          </a:p>
        </p:txBody>
      </p:sp>
      <p:sp>
        <p:nvSpPr>
          <p:cNvPr id="20" name="Shape 15"/>
          <p:cNvSpPr/>
          <p:nvPr/>
        </p:nvSpPr>
        <p:spPr>
          <a:xfrm>
            <a:off x="8970264" y="1828800"/>
            <a:ext cx="2670048" cy="301752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838944" y="2121408"/>
            <a:ext cx="914400" cy="914400"/>
          </a:xfrm>
          <a:prstGeom prst="ellipse">
            <a:avLst/>
          </a:prstGeom>
          <a:solidFill>
            <a:srgbClr val="EAEEF5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7544" y="235000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53144" y="320040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Newcomers &amp; visitors</a:t>
            </a:r>
            <a:endParaRPr lang="en-US" sz="1600"/>
          </a:p>
        </p:txBody>
      </p:sp>
      <p:sp>
        <p:nvSpPr>
          <p:cNvPr id="24" name="Text 18"/>
          <p:cNvSpPr/>
          <p:nvPr/>
        </p:nvSpPr>
        <p:spPr>
          <a:xfrm>
            <a:off x="9244584" y="374904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unfamiliar with Cairo's transit who need clear guided directions</a:t>
            </a:r>
            <a:endParaRPr lang="en-US" sz="120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1FC8DF01-EF5C-56DE-FC55-2EC21C12036F}"/>
              </a:ext>
            </a:extLst>
          </p:cNvPr>
          <p:cNvSpPr/>
          <p:nvPr/>
        </p:nvSpPr>
        <p:spPr>
          <a:xfrm>
            <a:off x="8294407" y="641692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مواصلاتي  ·  Mwasalaty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Research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Cairo's Greater Metropolitan Area moves tens of millions of trips daily, yet most riders still depend on word-of-mouth knowledge of routes — a gap shared across many fast-growing cities with informal or semi-formal transit systems.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529584" cy="2011680"/>
          </a:xfrm>
          <a:prstGeom prst="roundRect">
            <a:avLst>
              <a:gd name="adj" fmla="val 5455"/>
            </a:avLst>
          </a:prstGeom>
          <a:solidFill>
            <a:srgbClr val="16335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889504"/>
            <a:ext cx="566928" cy="566928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0358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20M+</a:t>
            </a:r>
            <a:endParaRPr lang="en-US" sz="2600"/>
          </a:p>
        </p:txBody>
      </p:sp>
      <p:sp>
        <p:nvSpPr>
          <p:cNvPr id="9" name="Text 6"/>
          <p:cNvSpPr/>
          <p:nvPr/>
        </p:nvSpPr>
        <p:spPr>
          <a:xfrm>
            <a:off x="822960" y="4069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B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trips across Greater Cairo's transit network</a:t>
            </a:r>
            <a:endParaRPr lang="en-US" sz="1150"/>
          </a:p>
        </p:txBody>
      </p:sp>
      <p:sp>
        <p:nvSpPr>
          <p:cNvPr id="10" name="Shape 7"/>
          <p:cNvSpPr/>
          <p:nvPr/>
        </p:nvSpPr>
        <p:spPr>
          <a:xfrm>
            <a:off x="4297680" y="2651760"/>
            <a:ext cx="3529584" cy="2011680"/>
          </a:xfrm>
          <a:prstGeom prst="roundRect">
            <a:avLst>
              <a:gd name="adj" fmla="val 5455"/>
            </a:avLst>
          </a:prstGeom>
          <a:solidFill>
            <a:srgbClr val="16335C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2889504"/>
            <a:ext cx="566928" cy="566928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303580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2600"/>
          </a:p>
        </p:txBody>
      </p:sp>
      <p:sp>
        <p:nvSpPr>
          <p:cNvPr id="14" name="Text 10"/>
          <p:cNvSpPr/>
          <p:nvPr/>
        </p:nvSpPr>
        <p:spPr>
          <a:xfrm>
            <a:off x="4572000" y="4069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B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coverage of informal bus &amp; microbus routes today</a:t>
            </a:r>
            <a:endParaRPr lang="en-US" sz="1150"/>
          </a:p>
        </p:txBody>
      </p:sp>
      <p:sp>
        <p:nvSpPr>
          <p:cNvPr id="15" name="Shape 11"/>
          <p:cNvSpPr/>
          <p:nvPr/>
        </p:nvSpPr>
        <p:spPr>
          <a:xfrm>
            <a:off x="8046720" y="2651760"/>
            <a:ext cx="3529584" cy="2011680"/>
          </a:xfrm>
          <a:prstGeom prst="roundRect">
            <a:avLst>
              <a:gd name="adj" fmla="val 5455"/>
            </a:avLst>
          </a:prstGeom>
          <a:solidFill>
            <a:srgbClr val="16335C"/>
          </a:solidFill>
          <a:ln/>
        </p:spPr>
      </p:sp>
      <p:sp>
        <p:nvSpPr>
          <p:cNvPr id="16" name="Shape 12"/>
          <p:cNvSpPr/>
          <p:nvPr/>
        </p:nvSpPr>
        <p:spPr>
          <a:xfrm>
            <a:off x="8321040" y="2889504"/>
            <a:ext cx="566928" cy="566928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303580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</a:t>
            </a:r>
            <a:endParaRPr lang="en-US" sz="2600"/>
          </a:p>
        </p:txBody>
      </p:sp>
      <p:sp>
        <p:nvSpPr>
          <p:cNvPr id="19" name="Text 14"/>
          <p:cNvSpPr/>
          <p:nvPr/>
        </p:nvSpPr>
        <p:spPr>
          <a:xfrm>
            <a:off x="8321040" y="4069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B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offering offline-first support for low-connectivity areas</a:t>
            </a:r>
            <a:endParaRPr lang="en-US" sz="1150"/>
          </a:p>
        </p:txBody>
      </p:sp>
      <p:sp>
        <p:nvSpPr>
          <p:cNvPr id="20" name="Shape 15"/>
          <p:cNvSpPr/>
          <p:nvPr/>
        </p:nvSpPr>
        <p:spPr>
          <a:xfrm>
            <a:off x="548640" y="493776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F2B705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193792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93776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</a:t>
            </a:r>
            <a:r>
              <a:rPr lang="en-US" sz="1300" b="1" dirty="0" err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Mwasalaty</a:t>
            </a: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fills the gap between formal mapping apps (which lack Cairo's informal routes) and word-of-mouth navigation — by combining a real Cairo routing engine with offline reliability.</a:t>
            </a:r>
            <a:endParaRPr lang="en-US" sz="13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7F51A5-560B-3EB2-9C16-53E4B5520075}"/>
              </a:ext>
            </a:extLst>
          </p:cNvPr>
          <p:cNvSpPr txBox="1"/>
          <p:nvPr/>
        </p:nvSpPr>
        <p:spPr>
          <a:xfrm>
            <a:off x="10735653" y="6472091"/>
            <a:ext cx="121668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0" dirty="0" err="1">
                <a:solidFill>
                  <a:srgbClr val="D1DCEB"/>
                </a:solidFill>
                <a:latin typeface="Aptos"/>
              </a:rPr>
              <a:t>مواصلاتي</a:t>
            </a:r>
            <a:r>
              <a:rPr sz="1050" b="0" dirty="0">
                <a:solidFill>
                  <a:srgbClr val="D1DCEB"/>
                </a:solidFill>
                <a:latin typeface="Aptos"/>
              </a:rPr>
              <a:t>  ·  </a:t>
            </a:r>
            <a:r>
              <a:rPr sz="1050" b="0" dirty="0" err="1">
                <a:solidFill>
                  <a:srgbClr val="D1DCEB"/>
                </a:solidFill>
                <a:latin typeface="Aptos"/>
              </a:rPr>
              <a:t>Mwasalaty</a:t>
            </a:r>
            <a:endParaRPr lang="en-US" dirty="0" err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Solved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FEF6E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09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clear route guidance</a:t>
            </a:r>
            <a:endParaRPr lang="en-US" sz="1300"/>
          </a:p>
        </p:txBody>
      </p:sp>
      <p:sp>
        <p:nvSpPr>
          <p:cNvPr id="8" name="Shape 5"/>
          <p:cNvSpPr/>
          <p:nvPr/>
        </p:nvSpPr>
        <p:spPr>
          <a:xfrm>
            <a:off x="777240" y="2423160"/>
            <a:ext cx="3154680" cy="13716"/>
          </a:xfrm>
          <a:prstGeom prst="rect">
            <a:avLst/>
          </a:prstGeom>
          <a:solidFill>
            <a:srgbClr val="E3E7E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060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55117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+ OTP-powered route planning across Cairo</a:t>
            </a:r>
            <a:endParaRPr lang="en-US" sz="1150"/>
          </a:p>
        </p:txBody>
      </p:sp>
      <p:sp>
        <p:nvSpPr>
          <p:cNvPr id="11" name="Shape 7"/>
          <p:cNvSpPr/>
          <p:nvPr/>
        </p:nvSpPr>
        <p:spPr>
          <a:xfrm>
            <a:off x="4325112" y="150876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53712" y="1737360"/>
            <a:ext cx="502920" cy="502920"/>
          </a:xfrm>
          <a:prstGeom prst="ellipse">
            <a:avLst/>
          </a:prstGeom>
          <a:solidFill>
            <a:srgbClr val="FEF6E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18745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93792" y="1709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Unreliable internet access</a:t>
            </a:r>
            <a:endParaRPr lang="en-US" sz="1300"/>
          </a:p>
        </p:txBody>
      </p:sp>
      <p:sp>
        <p:nvSpPr>
          <p:cNvPr id="15" name="Shape 10"/>
          <p:cNvSpPr/>
          <p:nvPr/>
        </p:nvSpPr>
        <p:spPr>
          <a:xfrm>
            <a:off x="4553712" y="2423160"/>
            <a:ext cx="3154680" cy="13716"/>
          </a:xfrm>
          <a:prstGeom prst="rect">
            <a:avLst/>
          </a:prstGeom>
          <a:solidFill>
            <a:srgbClr val="E3E7EE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260604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46904" y="255117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PWA with service worker caching</a:t>
            </a:r>
            <a:endParaRPr lang="en-US" sz="1150"/>
          </a:p>
        </p:txBody>
      </p:sp>
      <p:sp>
        <p:nvSpPr>
          <p:cNvPr id="18" name="Shape 12"/>
          <p:cNvSpPr/>
          <p:nvPr/>
        </p:nvSpPr>
        <p:spPr>
          <a:xfrm>
            <a:off x="8101584" y="150876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330184" y="1737360"/>
            <a:ext cx="502920" cy="502920"/>
          </a:xfrm>
          <a:prstGeom prst="ellipse">
            <a:avLst/>
          </a:prstGeom>
          <a:solidFill>
            <a:srgbClr val="FEF6E0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187452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970264" y="1709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Manual, cash-only tickets</a:t>
            </a:r>
            <a:endParaRPr lang="en-US" sz="1300"/>
          </a:p>
        </p:txBody>
      </p:sp>
      <p:sp>
        <p:nvSpPr>
          <p:cNvPr id="22" name="Shape 15"/>
          <p:cNvSpPr/>
          <p:nvPr/>
        </p:nvSpPr>
        <p:spPr>
          <a:xfrm>
            <a:off x="8330184" y="2423160"/>
            <a:ext cx="3154680" cy="13716"/>
          </a:xfrm>
          <a:prstGeom prst="rect">
            <a:avLst/>
          </a:prstGeom>
          <a:solidFill>
            <a:srgbClr val="E3E7EE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0184" y="2606040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723376" y="255117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tickets with PayMob payment integration</a:t>
            </a:r>
            <a:endParaRPr lang="en-US" sz="1150"/>
          </a:p>
        </p:txBody>
      </p:sp>
      <p:sp>
        <p:nvSpPr>
          <p:cNvPr id="25" name="Shape 17"/>
          <p:cNvSpPr/>
          <p:nvPr/>
        </p:nvSpPr>
        <p:spPr>
          <a:xfrm>
            <a:off x="548640" y="379476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FEF6E0"/>
          </a:solidFill>
          <a:ln/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60520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417320" y="3995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way to verify tickets on board</a:t>
            </a:r>
            <a:endParaRPr lang="en-US" sz="1300"/>
          </a:p>
        </p:txBody>
      </p:sp>
      <p:sp>
        <p:nvSpPr>
          <p:cNvPr id="29" name="Shape 20"/>
          <p:cNvSpPr/>
          <p:nvPr/>
        </p:nvSpPr>
        <p:spPr>
          <a:xfrm>
            <a:off x="777240" y="4709160"/>
            <a:ext cx="3154680" cy="13716"/>
          </a:xfrm>
          <a:prstGeom prst="rect">
            <a:avLst/>
          </a:prstGeom>
          <a:solidFill>
            <a:srgbClr val="E3E7EE"/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892040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170432" y="483717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app with offline QR scanning + sync queue</a:t>
            </a:r>
            <a:endParaRPr lang="en-US" sz="1150"/>
          </a:p>
        </p:txBody>
      </p:sp>
      <p:sp>
        <p:nvSpPr>
          <p:cNvPr id="32" name="Shape 22"/>
          <p:cNvSpPr/>
          <p:nvPr/>
        </p:nvSpPr>
        <p:spPr>
          <a:xfrm>
            <a:off x="4325112" y="379476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4553712" y="4023360"/>
            <a:ext cx="502920" cy="502920"/>
          </a:xfrm>
          <a:prstGeom prst="ellipse">
            <a:avLst/>
          </a:prstGeom>
          <a:solidFill>
            <a:srgbClr val="FEF6E0"/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4160520"/>
            <a:ext cx="228600" cy="22860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193792" y="3995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trip support or help channel</a:t>
            </a:r>
            <a:endParaRPr lang="en-US" sz="1300"/>
          </a:p>
        </p:txBody>
      </p:sp>
      <p:sp>
        <p:nvSpPr>
          <p:cNvPr id="36" name="Shape 25"/>
          <p:cNvSpPr/>
          <p:nvPr/>
        </p:nvSpPr>
        <p:spPr>
          <a:xfrm>
            <a:off x="4553712" y="4709160"/>
            <a:ext cx="3154680" cy="13716"/>
          </a:xfrm>
          <a:prstGeom prst="rect">
            <a:avLst/>
          </a:prstGeom>
          <a:solidFill>
            <a:srgbClr val="E3E7EE"/>
          </a:solidFill>
          <a:ln/>
        </p:spPr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712" y="4892040"/>
            <a:ext cx="274320" cy="27432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4946904" y="483717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support tickets and notifications</a:t>
            </a:r>
            <a:endParaRPr lang="en-US" sz="1150"/>
          </a:p>
        </p:txBody>
      </p:sp>
      <p:sp>
        <p:nvSpPr>
          <p:cNvPr id="39" name="Shape 27"/>
          <p:cNvSpPr/>
          <p:nvPr/>
        </p:nvSpPr>
        <p:spPr>
          <a:xfrm>
            <a:off x="8101584" y="379476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40" name="Shape 28"/>
          <p:cNvSpPr/>
          <p:nvPr/>
        </p:nvSpPr>
        <p:spPr>
          <a:xfrm>
            <a:off x="8330184" y="4023360"/>
            <a:ext cx="502920" cy="502920"/>
          </a:xfrm>
          <a:prstGeom prst="ellipse">
            <a:avLst/>
          </a:prstGeom>
          <a:solidFill>
            <a:srgbClr val="FEF6E0"/>
          </a:solidFill>
          <a:ln/>
        </p:spPr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4160520"/>
            <a:ext cx="228600" cy="22860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8970264" y="3995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to remember frequent destinations</a:t>
            </a:r>
            <a:endParaRPr lang="en-US" sz="1300"/>
          </a:p>
        </p:txBody>
      </p:sp>
      <p:sp>
        <p:nvSpPr>
          <p:cNvPr id="43" name="Shape 30"/>
          <p:cNvSpPr/>
          <p:nvPr/>
        </p:nvSpPr>
        <p:spPr>
          <a:xfrm>
            <a:off x="8330184" y="4709160"/>
            <a:ext cx="3154680" cy="13716"/>
          </a:xfrm>
          <a:prstGeom prst="rect">
            <a:avLst/>
          </a:prstGeom>
          <a:solidFill>
            <a:srgbClr val="E3E7EE"/>
          </a:solidFill>
          <a:ln/>
        </p:spPr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0184" y="4892040"/>
            <a:ext cx="274320" cy="274320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8723376" y="483717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 places saved for one-tap planning</a:t>
            </a:r>
            <a:endParaRPr lang="en-US" sz="115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CED73618-D919-1DB8-B770-E5FCE3C79B93}"/>
              </a:ext>
            </a:extLst>
          </p:cNvPr>
          <p:cNvSpPr/>
          <p:nvPr/>
        </p:nvSpPr>
        <p:spPr>
          <a:xfrm>
            <a:off x="8294407" y="641692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مواصلاتي  ·  Mwasalaty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Features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15184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28216"/>
            <a:ext cx="548640" cy="5486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6537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route planning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749808" y="288036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natural-language search powered by Groq + OTP routing</a:t>
            </a:r>
            <a:endParaRPr lang="en-US" sz="1050"/>
          </a:p>
        </p:txBody>
      </p:sp>
      <p:sp>
        <p:nvSpPr>
          <p:cNvPr id="9" name="Shape 6"/>
          <p:cNvSpPr/>
          <p:nvPr/>
        </p:nvSpPr>
        <p:spPr>
          <a:xfrm>
            <a:off x="8987391" y="1508760"/>
            <a:ext cx="2615184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206847" y="1728216"/>
            <a:ext cx="548640" cy="5486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4007" y="186537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88559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ticketing</a:t>
            </a:r>
            <a:endParaRPr lang="en-US" sz="1300"/>
          </a:p>
        </p:txBody>
      </p:sp>
      <p:sp>
        <p:nvSpPr>
          <p:cNvPr id="13" name="Text 9"/>
          <p:cNvSpPr/>
          <p:nvPr/>
        </p:nvSpPr>
        <p:spPr>
          <a:xfrm>
            <a:off x="9188559" y="288036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Buy, store, and scan tickets with PayMob payment integration</a:t>
            </a:r>
            <a:endParaRPr lang="en-US" sz="1050"/>
          </a:p>
        </p:txBody>
      </p:sp>
      <p:sp>
        <p:nvSpPr>
          <p:cNvPr id="14" name="Shape 10"/>
          <p:cNvSpPr/>
          <p:nvPr/>
        </p:nvSpPr>
        <p:spPr>
          <a:xfrm>
            <a:off x="3376313" y="3758474"/>
            <a:ext cx="2615184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95769" y="3977930"/>
            <a:ext cx="548640" cy="5486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2929" y="411509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77481" y="467287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Offline-first experience</a:t>
            </a:r>
            <a:endParaRPr lang="en-US" sz="1300"/>
          </a:p>
        </p:txBody>
      </p:sp>
      <p:sp>
        <p:nvSpPr>
          <p:cNvPr id="18" name="Text 13"/>
          <p:cNvSpPr/>
          <p:nvPr/>
        </p:nvSpPr>
        <p:spPr>
          <a:xfrm>
            <a:off x="3577481" y="5130074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caching keeps core features usable without signal</a:t>
            </a:r>
            <a:endParaRPr lang="en-US" sz="1050"/>
          </a:p>
        </p:txBody>
      </p:sp>
      <p:sp>
        <p:nvSpPr>
          <p:cNvPr id="19" name="Shape 14"/>
          <p:cNvSpPr/>
          <p:nvPr/>
        </p:nvSpPr>
        <p:spPr>
          <a:xfrm>
            <a:off x="3353236" y="1494245"/>
            <a:ext cx="2615184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572692" y="1713701"/>
            <a:ext cx="548640" cy="5486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9852" y="1850861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554404" y="2408645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Favorite places</a:t>
            </a:r>
            <a:endParaRPr lang="en-US" sz="1300"/>
          </a:p>
        </p:txBody>
      </p:sp>
      <p:sp>
        <p:nvSpPr>
          <p:cNvPr id="23" name="Text 17"/>
          <p:cNvSpPr/>
          <p:nvPr/>
        </p:nvSpPr>
        <p:spPr>
          <a:xfrm>
            <a:off x="3554404" y="2865845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frequent destinations for instant one-tap trip planning</a:t>
            </a:r>
            <a:endParaRPr lang="en-US" sz="1050"/>
          </a:p>
        </p:txBody>
      </p:sp>
      <p:sp>
        <p:nvSpPr>
          <p:cNvPr id="24" name="Shape 18"/>
          <p:cNvSpPr/>
          <p:nvPr/>
        </p:nvSpPr>
        <p:spPr>
          <a:xfrm>
            <a:off x="548640" y="3749040"/>
            <a:ext cx="2615184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68096" y="3968496"/>
            <a:ext cx="548640" cy="5486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" y="410565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9808" y="4663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scanner app</a:t>
            </a:r>
            <a:endParaRPr lang="en-US" sz="1300"/>
          </a:p>
        </p:txBody>
      </p:sp>
      <p:sp>
        <p:nvSpPr>
          <p:cNvPr id="28" name="Text 21"/>
          <p:cNvSpPr/>
          <p:nvPr/>
        </p:nvSpPr>
        <p:spPr>
          <a:xfrm>
            <a:off x="749808" y="512064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PWA for on-board ticket validation with offline sync</a:t>
            </a:r>
            <a:endParaRPr lang="en-US" sz="1050"/>
          </a:p>
        </p:txBody>
      </p:sp>
      <p:sp>
        <p:nvSpPr>
          <p:cNvPr id="29" name="Shape 22"/>
          <p:cNvSpPr/>
          <p:nvPr/>
        </p:nvSpPr>
        <p:spPr>
          <a:xfrm>
            <a:off x="9001905" y="3763554"/>
            <a:ext cx="2615184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221361" y="3983010"/>
            <a:ext cx="548640" cy="5486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8521" y="412017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03073" y="467795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&amp; notifications</a:t>
            </a:r>
            <a:endParaRPr lang="en-US" sz="1300"/>
          </a:p>
        </p:txBody>
      </p:sp>
      <p:sp>
        <p:nvSpPr>
          <p:cNvPr id="33" name="Text 25"/>
          <p:cNvSpPr/>
          <p:nvPr/>
        </p:nvSpPr>
        <p:spPr>
          <a:xfrm>
            <a:off x="9203073" y="5135154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support tickets and timely trip notifications</a:t>
            </a:r>
            <a:endParaRPr lang="en-US" sz="1050"/>
          </a:p>
        </p:txBody>
      </p:sp>
      <p:sp>
        <p:nvSpPr>
          <p:cNvPr id="34" name="Shape 26"/>
          <p:cNvSpPr/>
          <p:nvPr/>
        </p:nvSpPr>
        <p:spPr>
          <a:xfrm>
            <a:off x="6192085" y="1513840"/>
            <a:ext cx="2615184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11541" y="1733296"/>
            <a:ext cx="548640" cy="5486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8701" y="1870456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93253" y="2428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300" b="1">
                <a:solidFill>
                  <a:srgbClr val="0B1F3A"/>
                </a:solidFill>
                <a:latin typeface="Cambria"/>
                <a:ea typeface="Cambria"/>
              </a:rPr>
              <a:t>Live Navigation</a:t>
            </a:r>
            <a:endParaRPr lang="en-US"/>
          </a:p>
        </p:txBody>
      </p:sp>
      <p:sp>
        <p:nvSpPr>
          <p:cNvPr id="38" name="Text 29"/>
          <p:cNvSpPr/>
          <p:nvPr/>
        </p:nvSpPr>
        <p:spPr>
          <a:xfrm>
            <a:off x="6378739" y="2769326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050">
                <a:solidFill>
                  <a:srgbClr val="5F6B7A"/>
                </a:solidFill>
                <a:ea typeface="+mn-lt"/>
                <a:cs typeface="+mn-lt"/>
              </a:rPr>
              <a:t>provides real-time, step-by-</a:t>
            </a:r>
            <a:r>
              <a:rPr lang="en-US" sz="1050" dirty="0">
                <a:solidFill>
                  <a:srgbClr val="5F6B7A"/>
                </a:solidFill>
                <a:ea typeface="+mn-lt"/>
                <a:cs typeface="+mn-lt"/>
              </a:rPr>
              <a:t>step guidance, highlighting the user’s current progress and next action.</a:t>
            </a:r>
            <a:endParaRPr lang="en-US" sz="1050" dirty="0">
              <a:ea typeface="+mn-lt"/>
              <a:cs typeface="+mn-lt"/>
            </a:endParaRPr>
          </a:p>
        </p:txBody>
      </p:sp>
      <p:sp>
        <p:nvSpPr>
          <p:cNvPr id="39" name="Shape 30"/>
          <p:cNvSpPr/>
          <p:nvPr/>
        </p:nvSpPr>
        <p:spPr>
          <a:xfrm>
            <a:off x="6183521" y="3763555"/>
            <a:ext cx="2615184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402977" y="3983011"/>
            <a:ext cx="548640" cy="5486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0137" y="4120171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384689" y="4677955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300"/>
          </a:p>
        </p:txBody>
      </p:sp>
      <p:sp>
        <p:nvSpPr>
          <p:cNvPr id="43" name="Text 33"/>
          <p:cNvSpPr/>
          <p:nvPr/>
        </p:nvSpPr>
        <p:spPr>
          <a:xfrm>
            <a:off x="6384689" y="5135155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stops, stations, routes, and tickets from one panel</a:t>
            </a:r>
            <a:endParaRPr lang="en-US" sz="1050"/>
          </a:p>
        </p:txBody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C4A30CB0-A268-BFA2-B127-59988D0E7680}"/>
              </a:ext>
            </a:extLst>
          </p:cNvPr>
          <p:cNvSpPr/>
          <p:nvPr/>
        </p:nvSpPr>
        <p:spPr>
          <a:xfrm>
            <a:off x="8294407" y="641692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مواصلاتي  ·  Mwasalaty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planned beyond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048256"/>
            <a:ext cx="512064" cy="512064"/>
          </a:xfrm>
          <a:prstGeom prst="ellipse">
            <a:avLst/>
          </a:prstGeom>
          <a:solidFill>
            <a:srgbClr val="FEF6E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17627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670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vehicle tracking</a:t>
            </a:r>
            <a:endParaRPr lang="en-US" sz="1300"/>
          </a:p>
        </p:txBody>
      </p:sp>
      <p:sp>
        <p:nvSpPr>
          <p:cNvPr id="9" name="Text 6"/>
          <p:cNvSpPr/>
          <p:nvPr/>
        </p:nvSpPr>
        <p:spPr>
          <a:xfrm>
            <a:off x="749808" y="307238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bus &amp; microbus positions via GPS-enabled operator devices</a:t>
            </a:r>
            <a:endParaRPr lang="en-US" sz="1050"/>
          </a:p>
        </p:txBody>
      </p:sp>
      <p:sp>
        <p:nvSpPr>
          <p:cNvPr id="10" name="Shape 7"/>
          <p:cNvSpPr/>
          <p:nvPr/>
        </p:nvSpPr>
        <p:spPr>
          <a:xfrm>
            <a:off x="4325112" y="1828800"/>
            <a:ext cx="356616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44568" y="2048256"/>
            <a:ext cx="512064" cy="512064"/>
          </a:xfrm>
          <a:prstGeom prst="ellipse">
            <a:avLst/>
          </a:prstGeom>
          <a:solidFill>
            <a:srgbClr val="FEF6E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217627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670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300" b="1">
                <a:solidFill>
                  <a:srgbClr val="0B1F3A"/>
                </a:solidFill>
                <a:latin typeface="Cambria"/>
                <a:ea typeface="Cambria"/>
                <a:cs typeface="+mn-lt"/>
              </a:rPr>
              <a:t>Passenger Book his seat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526280" y="307238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5F6B7A"/>
                </a:solidFill>
                <a:ea typeface="+mn-lt"/>
                <a:cs typeface="+mn-lt"/>
              </a:rPr>
              <a:t>Enables passengers to view seat availability in real time and select their desired seat.</a:t>
            </a:r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101584" y="1828800"/>
            <a:ext cx="356616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2048256"/>
            <a:ext cx="512064" cy="512064"/>
          </a:xfrm>
          <a:prstGeom prst="ellipse">
            <a:avLst/>
          </a:prstGeom>
          <a:solidFill>
            <a:srgbClr val="FEF6E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217627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2752" y="2670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300" b="1">
                <a:solidFill>
                  <a:srgbClr val="0B1F3A"/>
                </a:solidFill>
                <a:latin typeface="Cambria"/>
                <a:ea typeface="Cambria"/>
              </a:rPr>
              <a:t>Voice Assistant Support </a:t>
            </a:r>
          </a:p>
        </p:txBody>
      </p:sp>
      <p:sp>
        <p:nvSpPr>
          <p:cNvPr id="19" name="Text 14"/>
          <p:cNvSpPr/>
          <p:nvPr/>
        </p:nvSpPr>
        <p:spPr>
          <a:xfrm>
            <a:off x="8302752" y="307238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5F6B7A"/>
                </a:solidFill>
                <a:ea typeface="+mn-lt"/>
                <a:cs typeface="+mn-lt"/>
              </a:rPr>
              <a:t>enabling passengers to interact with </a:t>
            </a:r>
            <a:r>
              <a:rPr lang="en-US" sz="1050" err="1">
                <a:solidFill>
                  <a:srgbClr val="5F6B7A"/>
                </a:solidFill>
                <a:ea typeface="+mn-lt"/>
                <a:cs typeface="+mn-lt"/>
              </a:rPr>
              <a:t>Mwasalaty</a:t>
            </a:r>
            <a:r>
              <a:rPr lang="en-US" sz="1050">
                <a:solidFill>
                  <a:srgbClr val="5F6B7A"/>
                </a:solidFill>
                <a:ea typeface="+mn-lt"/>
                <a:cs typeface="+mn-lt"/>
              </a:rPr>
              <a:t> using voice commands instead of typing or tapping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548640" y="3977640"/>
            <a:ext cx="356616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68096" y="4197096"/>
            <a:ext cx="512064" cy="512064"/>
          </a:xfrm>
          <a:prstGeom prst="ellipse">
            <a:avLst/>
          </a:prstGeom>
          <a:solidFill>
            <a:srgbClr val="FEF6E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432511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48188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 analytics for operators</a:t>
            </a:r>
            <a:endParaRPr lang="en-US" sz="1300"/>
          </a:p>
        </p:txBody>
      </p:sp>
      <p:sp>
        <p:nvSpPr>
          <p:cNvPr id="24" name="Text 18"/>
          <p:cNvSpPr/>
          <p:nvPr/>
        </p:nvSpPr>
        <p:spPr>
          <a:xfrm>
            <a:off x="749808" y="52212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Ridership insights to help operators plan schedules and capacity</a:t>
            </a:r>
            <a:endParaRPr lang="en-US" sz="1050"/>
          </a:p>
        </p:txBody>
      </p:sp>
      <p:sp>
        <p:nvSpPr>
          <p:cNvPr id="25" name="Shape 19"/>
          <p:cNvSpPr/>
          <p:nvPr/>
        </p:nvSpPr>
        <p:spPr>
          <a:xfrm>
            <a:off x="4325112" y="3977640"/>
            <a:ext cx="356616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44568" y="4197096"/>
            <a:ext cx="512064" cy="512064"/>
          </a:xfrm>
          <a:prstGeom prst="ellipse">
            <a:avLst/>
          </a:prstGeom>
          <a:solidFill>
            <a:srgbClr val="FEF6E0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4325112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26280" y="48188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trip sharing</a:t>
            </a:r>
            <a:endParaRPr lang="en-US" sz="1300"/>
          </a:p>
        </p:txBody>
      </p:sp>
      <p:sp>
        <p:nvSpPr>
          <p:cNvPr id="29" name="Text 22"/>
          <p:cNvSpPr/>
          <p:nvPr/>
        </p:nvSpPr>
        <p:spPr>
          <a:xfrm>
            <a:off x="4526280" y="52212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live trip status and ETA with family or friends</a:t>
            </a:r>
            <a:endParaRPr lang="en-US" sz="1050"/>
          </a:p>
        </p:txBody>
      </p:sp>
      <p:sp>
        <p:nvSpPr>
          <p:cNvPr id="30" name="Shape 23"/>
          <p:cNvSpPr/>
          <p:nvPr/>
        </p:nvSpPr>
        <p:spPr>
          <a:xfrm>
            <a:off x="8101584" y="3977640"/>
            <a:ext cx="356616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21040" y="4197096"/>
            <a:ext cx="512064" cy="512064"/>
          </a:xfrm>
          <a:prstGeom prst="ellipse">
            <a:avLst/>
          </a:prstGeom>
          <a:solidFill>
            <a:srgbClr val="FEF6E0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9056" y="4325112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02752" y="48188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Expanded city coverage</a:t>
            </a:r>
            <a:endParaRPr lang="en-US" sz="1300"/>
          </a:p>
        </p:txBody>
      </p:sp>
      <p:sp>
        <p:nvSpPr>
          <p:cNvPr id="34" name="Text 26"/>
          <p:cNvSpPr/>
          <p:nvPr/>
        </p:nvSpPr>
        <p:spPr>
          <a:xfrm>
            <a:off x="8302752" y="52212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routing engine beyond Cairo to other Egyptian governorates</a:t>
            </a:r>
            <a:endParaRPr lang="en-US" sz="1050"/>
          </a:p>
        </p:txBody>
      </p:sp>
      <p:sp>
        <p:nvSpPr>
          <p:cNvPr id="38" name="Text 23">
            <a:extLst>
              <a:ext uri="{FF2B5EF4-FFF2-40B4-BE49-F238E27FC236}">
                <a16:creationId xmlns:a16="http://schemas.microsoft.com/office/drawing/2014/main" id="{5D65E0A6-67E1-096E-6C99-C25E23DCDC3D}"/>
              </a:ext>
            </a:extLst>
          </p:cNvPr>
          <p:cNvSpPr/>
          <p:nvPr/>
        </p:nvSpPr>
        <p:spPr>
          <a:xfrm>
            <a:off x="8294407" y="641692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مواصلاتي  ·  Mwasalaty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9808" y="914400"/>
            <a:ext cx="2852704" cy="6771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8FAFC"/>
                </a:solidFill>
                <a:latin typeface="Cambria"/>
                <a:ea typeface="Cambria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572768"/>
            <a:ext cx="56692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D1DCEB"/>
                </a:solidFill>
                <a:latin typeface="Aptos"/>
              </a:rPr>
              <a:t>A clearer, more reliable digital transit experience for Cairo.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947672"/>
            <a:ext cx="566928" cy="36576"/>
          </a:xfrm>
          <a:prstGeom prst="rect">
            <a:avLst/>
          </a:prstGeom>
          <a:solidFill>
            <a:srgbClr val="FFB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74D2EF-35D6-2951-AABE-7499901F567D}"/>
              </a:ext>
            </a:extLst>
          </p:cNvPr>
          <p:cNvGrpSpPr/>
          <p:nvPr/>
        </p:nvGrpSpPr>
        <p:grpSpPr>
          <a:xfrm>
            <a:off x="751901" y="2477174"/>
            <a:ext cx="9027496" cy="3154680"/>
            <a:chOff x="811575" y="2312827"/>
            <a:chExt cx="9027496" cy="3154680"/>
          </a:xfrm>
        </p:grpSpPr>
        <p:sp>
          <p:nvSpPr>
            <p:cNvPr id="6" name="Rounded Rectangle 5"/>
            <p:cNvSpPr/>
            <p:nvPr/>
          </p:nvSpPr>
          <p:spPr>
            <a:xfrm>
              <a:off x="811575" y="2312827"/>
              <a:ext cx="9027496" cy="3154680"/>
            </a:xfrm>
            <a:prstGeom prst="roundRect">
              <a:avLst/>
            </a:prstGeom>
            <a:solidFill>
              <a:srgbClr val="02172B"/>
            </a:solidFill>
            <a:ln w="13335">
              <a:solidFill>
                <a:srgbClr val="FFBA0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49448" y="2703349"/>
              <a:ext cx="8081372" cy="49244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600" b="0" dirty="0" err="1">
                  <a:solidFill>
                    <a:srgbClr val="F8FAFC"/>
                  </a:solidFill>
                  <a:latin typeface="Aptos"/>
                </a:rPr>
                <a:t>Mwasalaty</a:t>
              </a:r>
              <a:r>
                <a:rPr sz="1600" b="0" dirty="0">
                  <a:solidFill>
                    <a:srgbClr val="F8FAFC"/>
                  </a:solidFill>
                  <a:latin typeface="Aptos"/>
                </a:rPr>
                <a:t> shows how an offline-first PWA and a custom Cairo routing engine can make public transit easier to plan, pay for, and trust.</a:t>
              </a:r>
              <a:endParaRPr lang="en-US" dirty="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78992" y="3566160"/>
              <a:ext cx="192360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FFBA0A"/>
                  </a:solidFill>
                  <a:latin typeface="Aptos Display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589847" y="3519534"/>
              <a:ext cx="5716510" cy="369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r>
                <a:rPr sz="1200" b="0">
                  <a:solidFill>
                    <a:srgbClr val="D1DCEB"/>
                  </a:solidFill>
                  <a:latin typeface="Aptos"/>
                </a:rPr>
                <a:t>One connected system: passenger app, operator app, admin app, backend, </a:t>
              </a:r>
              <a:endParaRPr lang="en-US" sz="1200">
                <a:solidFill>
                  <a:srgbClr val="D1DCEB"/>
                </a:solidFill>
                <a:latin typeface="Aptos"/>
              </a:endParaRPr>
            </a:p>
            <a:p>
              <a:pPr algn="l"/>
              <a:r>
                <a:rPr sz="1200" b="0">
                  <a:solidFill>
                    <a:srgbClr val="D1DCEB"/>
                  </a:solidFill>
                  <a:latin typeface="Aptos"/>
                </a:rPr>
                <a:t>and routing engine</a:t>
              </a:r>
              <a:endParaRPr lang="en-US" sz="1200" b="0">
                <a:solidFill>
                  <a:srgbClr val="D1DCEB"/>
                </a:solidFill>
                <a:latin typeface="Apto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78992" y="4133087"/>
              <a:ext cx="192360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FFBA0A"/>
                  </a:solidFill>
                  <a:latin typeface="Aptos Display"/>
                </a:rPr>
                <a:t>02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89847" y="4152585"/>
              <a:ext cx="4491935" cy="18466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200" b="0" dirty="0">
                  <a:solidFill>
                    <a:srgbClr val="D1DCEB"/>
                  </a:solidFill>
                  <a:latin typeface="Aptos"/>
                </a:rPr>
                <a:t>Real integrations: </a:t>
              </a:r>
              <a:r>
                <a:rPr sz="1200" b="0" dirty="0" err="1">
                  <a:solidFill>
                    <a:srgbClr val="D1DCEB"/>
                  </a:solidFill>
                  <a:latin typeface="Aptos"/>
                </a:rPr>
                <a:t>Supabase</a:t>
              </a:r>
              <a:r>
                <a:rPr sz="1200" b="0" dirty="0">
                  <a:solidFill>
                    <a:srgbClr val="D1DCEB"/>
                  </a:solidFill>
                  <a:latin typeface="Aptos"/>
                </a:rPr>
                <a:t>, </a:t>
              </a:r>
              <a:r>
                <a:rPr sz="1200" b="0" dirty="0" err="1">
                  <a:solidFill>
                    <a:srgbClr val="D1DCEB"/>
                  </a:solidFill>
                  <a:latin typeface="Aptos"/>
                </a:rPr>
                <a:t>PayMob</a:t>
              </a:r>
              <a:r>
                <a:rPr sz="1200" b="0" dirty="0">
                  <a:solidFill>
                    <a:srgbClr val="D1DCEB"/>
                  </a:solidFill>
                  <a:latin typeface="Aptos"/>
                </a:rPr>
                <a:t>, </a:t>
              </a:r>
              <a:r>
                <a:rPr sz="1200" b="0" dirty="0" err="1">
                  <a:solidFill>
                    <a:srgbClr val="D1DCEB"/>
                  </a:solidFill>
                  <a:latin typeface="Aptos"/>
                </a:rPr>
                <a:t>Groq</a:t>
              </a:r>
              <a:r>
                <a:rPr sz="1200" b="0" dirty="0">
                  <a:solidFill>
                    <a:srgbClr val="D1DCEB"/>
                  </a:solidFill>
                  <a:latin typeface="Aptos"/>
                </a:rPr>
                <a:t> AI, and </a:t>
              </a:r>
              <a:r>
                <a:rPr sz="1200" b="0" dirty="0" err="1">
                  <a:solidFill>
                    <a:srgbClr val="D1DCEB"/>
                  </a:solidFill>
                  <a:latin typeface="Aptos"/>
                </a:rPr>
                <a:t>OpenTripPlanner</a:t>
              </a:r>
              <a:endParaRPr lang="en-US" sz="1200" b="0" dirty="0" err="1">
                <a:solidFill>
                  <a:srgbClr val="D1DCEB"/>
                </a:solidFill>
                <a:latin typeface="Aptos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78992" y="4700016"/>
              <a:ext cx="192360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FFBA0A"/>
                  </a:solidFill>
                  <a:latin typeface="Aptos Display"/>
                </a:rPr>
                <a:t>03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608739" y="4738406"/>
              <a:ext cx="5086759" cy="1800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70" b="0">
                  <a:solidFill>
                    <a:srgbClr val="D1DCEB"/>
                  </a:solidFill>
                  <a:latin typeface="Aptos"/>
                </a:rPr>
                <a:t>Built for Cairo: offline-first, low-bandwidth resilient, and practical for daily riders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8E7E7D6-31AB-A687-157A-093030890BFA}"/>
              </a:ext>
            </a:extLst>
          </p:cNvPr>
          <p:cNvSpPr txBox="1"/>
          <p:nvPr/>
        </p:nvSpPr>
        <p:spPr>
          <a:xfrm>
            <a:off x="10735653" y="6472091"/>
            <a:ext cx="121668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0" dirty="0" err="1">
                <a:solidFill>
                  <a:srgbClr val="D1DCEB"/>
                </a:solidFill>
                <a:latin typeface="Aptos"/>
              </a:rPr>
              <a:t>مواصلاتي</a:t>
            </a:r>
            <a:r>
              <a:rPr sz="1050" b="0" dirty="0">
                <a:solidFill>
                  <a:srgbClr val="D1DCEB"/>
                </a:solidFill>
                <a:latin typeface="Aptos"/>
              </a:rPr>
              <a:t>  ·  </a:t>
            </a:r>
            <a:r>
              <a:rPr sz="1050" b="0" dirty="0" err="1">
                <a:solidFill>
                  <a:srgbClr val="D1DCEB"/>
                </a:solidFill>
                <a:latin typeface="Aptos"/>
              </a:rPr>
              <a:t>Mwasalaty</a:t>
            </a:r>
            <a:endParaRPr lang="en-US" dirty="0" err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B4E21E-BD0B-D972-CBFE-2DBCBFF9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18CE35-93B3-6142-D585-7407C8272250}"/>
              </a:ext>
            </a:extLst>
          </p:cNvPr>
          <p:cNvSpPr txBox="1"/>
          <p:nvPr/>
        </p:nvSpPr>
        <p:spPr>
          <a:xfrm>
            <a:off x="4722565" y="899604"/>
            <a:ext cx="2746073" cy="6771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GB" sz="4400" b="1">
                <a:solidFill>
                  <a:srgbClr val="F8FAFC"/>
                </a:solidFill>
                <a:latin typeface="Cambria"/>
                <a:ea typeface="Cambria"/>
              </a:rPr>
              <a:t>Thank You</a:t>
            </a:r>
            <a:endParaRPr lang="en-US" sz="4400" b="1">
              <a:solidFill>
                <a:srgbClr val="F8FAFC"/>
              </a:solidFill>
              <a:latin typeface="Cambria"/>
              <a:ea typeface="Cambri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8A1921-3A8C-4CE5-A058-0AE512273C3A}"/>
              </a:ext>
            </a:extLst>
          </p:cNvPr>
          <p:cNvSpPr txBox="1"/>
          <p:nvPr/>
        </p:nvSpPr>
        <p:spPr>
          <a:xfrm>
            <a:off x="3638764" y="1594962"/>
            <a:ext cx="4921219" cy="238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50" b="0">
                <a:solidFill>
                  <a:srgbClr val="D1DCEB"/>
                </a:solidFill>
                <a:latin typeface="Aptos"/>
              </a:rPr>
              <a:t>A clearer, more reliable digital transit experience for Cairo.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ED43C7-3882-9880-D4EA-DE24C265F828}"/>
              </a:ext>
            </a:extLst>
          </p:cNvPr>
          <p:cNvSpPr/>
          <p:nvPr/>
        </p:nvSpPr>
        <p:spPr>
          <a:xfrm>
            <a:off x="5817064" y="1962468"/>
            <a:ext cx="566928" cy="36576"/>
          </a:xfrm>
          <a:prstGeom prst="rect">
            <a:avLst/>
          </a:prstGeom>
          <a:solidFill>
            <a:srgbClr val="FFB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D5BF1D3-B817-9E71-A887-469EB3F59791}"/>
              </a:ext>
            </a:extLst>
          </p:cNvPr>
          <p:cNvSpPr txBox="1"/>
          <p:nvPr/>
        </p:nvSpPr>
        <p:spPr>
          <a:xfrm>
            <a:off x="10735653" y="6472091"/>
            <a:ext cx="121668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0" dirty="0" err="1">
                <a:solidFill>
                  <a:srgbClr val="D1DCEB"/>
                </a:solidFill>
                <a:latin typeface="Aptos"/>
              </a:rPr>
              <a:t>مواصلاتي</a:t>
            </a:r>
            <a:r>
              <a:rPr sz="1050" b="0" dirty="0">
                <a:solidFill>
                  <a:srgbClr val="D1DCEB"/>
                </a:solidFill>
                <a:latin typeface="Aptos"/>
              </a:rPr>
              <a:t>  ·  </a:t>
            </a:r>
            <a:r>
              <a:rPr sz="1050" b="0" dirty="0" err="1">
                <a:solidFill>
                  <a:srgbClr val="D1DCEB"/>
                </a:solidFill>
                <a:latin typeface="Aptos"/>
              </a:rPr>
              <a:t>Mwasalaty</a:t>
            </a:r>
            <a:endParaRPr lang="en-US" dirty="0" err="1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F3A3DA7-0342-52A0-7EF9-30355F6EA8AE}"/>
              </a:ext>
            </a:extLst>
          </p:cNvPr>
          <p:cNvGrpSpPr/>
          <p:nvPr/>
        </p:nvGrpSpPr>
        <p:grpSpPr>
          <a:xfrm>
            <a:off x="1062154" y="2329669"/>
            <a:ext cx="10087744" cy="3703320"/>
            <a:chOff x="758834" y="2285280"/>
            <a:chExt cx="10087744" cy="370332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9BB15C6-8920-2FC2-3A98-2697570C59DA}"/>
                </a:ext>
              </a:extLst>
            </p:cNvPr>
            <p:cNvGrpSpPr/>
            <p:nvPr/>
          </p:nvGrpSpPr>
          <p:grpSpPr>
            <a:xfrm>
              <a:off x="758834" y="2285280"/>
              <a:ext cx="10087744" cy="3703320"/>
              <a:chOff x="1757571" y="2152115"/>
              <a:chExt cx="10624492" cy="3703320"/>
            </a:xfrm>
          </p:grpSpPr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A375D2AB-9FC1-3589-2AE6-1B0ED0DC6322}"/>
                  </a:ext>
                </a:extLst>
              </p:cNvPr>
              <p:cNvSpPr/>
              <p:nvPr/>
            </p:nvSpPr>
            <p:spPr>
              <a:xfrm>
                <a:off x="1757571" y="2152115"/>
                <a:ext cx="10624492" cy="3703320"/>
              </a:xfrm>
              <a:prstGeom prst="roundRect">
                <a:avLst/>
              </a:prstGeom>
              <a:solidFill>
                <a:srgbClr val="02172B"/>
              </a:solidFill>
              <a:ln w="13335">
                <a:solidFill>
                  <a:srgbClr val="FFBA0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42521BE0-497B-C7C7-E401-7D922DD9AE75}"/>
                  </a:ext>
                </a:extLst>
              </p:cNvPr>
              <p:cNvGrpSpPr/>
              <p:nvPr/>
            </p:nvGrpSpPr>
            <p:grpSpPr>
              <a:xfrm>
                <a:off x="2123242" y="2641107"/>
                <a:ext cx="6162582" cy="458679"/>
                <a:chOff x="2123242" y="2641107"/>
                <a:chExt cx="6162582" cy="458679"/>
              </a:xfrm>
            </p:grpSpPr>
            <p:sp>
              <p:nvSpPr>
                <p:cNvPr id="22" name="Rectangle: Rounded Corners 21">
                  <a:extLst>
                    <a:ext uri="{FF2B5EF4-FFF2-40B4-BE49-F238E27FC236}">
                      <a16:creationId xmlns:a16="http://schemas.microsoft.com/office/drawing/2014/main" id="{9E46199F-02E5-4EE6-0AD8-8FCC007435E5}"/>
                    </a:ext>
                  </a:extLst>
                </p:cNvPr>
                <p:cNvSpPr/>
                <p:nvPr/>
              </p:nvSpPr>
              <p:spPr>
                <a:xfrm>
                  <a:off x="2123243" y="2641107"/>
                  <a:ext cx="5696503" cy="458679"/>
                </a:xfrm>
                <a:prstGeom prst="roundRect">
                  <a:avLst/>
                </a:prstGeom>
                <a:solidFill>
                  <a:srgbClr val="153557"/>
                </a:solidFill>
                <a:ln>
                  <a:solidFill>
                    <a:srgbClr val="34537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281AEB8-DA1E-3590-8A79-5DEBF55840C3}"/>
                    </a:ext>
                  </a:extLst>
                </p:cNvPr>
                <p:cNvSpPr txBox="1"/>
                <p:nvPr/>
              </p:nvSpPr>
              <p:spPr>
                <a:xfrm>
                  <a:off x="2123242" y="2685494"/>
                  <a:ext cx="961748" cy="338554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GB" sz="1600">
                      <a:solidFill>
                        <a:srgbClr val="FFBA0A"/>
                      </a:solidFill>
                      <a:latin typeface="Aptos"/>
                      <a:ea typeface="Cambria"/>
                      <a:cs typeface="Calibri"/>
                    </a:rPr>
                    <a:t>GitHub</a:t>
                  </a:r>
                  <a:endParaRPr lang="en-GB" sz="1600">
                    <a:solidFill>
                      <a:srgbClr val="FFBA0A"/>
                    </a:solidFill>
                    <a:latin typeface="Aptos"/>
                    <a:ea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E6B8DCB-032E-39C3-CC18-0CC2679C9DBE}"/>
                    </a:ext>
                  </a:extLst>
                </p:cNvPr>
                <p:cNvSpPr txBox="1"/>
                <p:nvPr/>
              </p:nvSpPr>
              <p:spPr>
                <a:xfrm>
                  <a:off x="3625048" y="2700290"/>
                  <a:ext cx="4660776" cy="338554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GB" sz="1600" dirty="0">
                      <a:solidFill>
                        <a:srgbClr val="F9FAFC"/>
                      </a:solidFill>
                      <a:ea typeface="+mn-lt"/>
                      <a:cs typeface="+mn-lt"/>
                    </a:rPr>
                    <a:t>https://github.com/shahddsameh/mwasalaty</a:t>
                  </a:r>
                  <a:endParaRPr lang="en-US" sz="1600" dirty="0">
                    <a:solidFill>
                      <a:srgbClr val="F9FAFC"/>
                    </a:solidFill>
                  </a:endParaRPr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1296A763-C3DF-BD58-B5E0-378C5A1227D8}"/>
                  </a:ext>
                </a:extLst>
              </p:cNvPr>
              <p:cNvGrpSpPr/>
              <p:nvPr/>
            </p:nvGrpSpPr>
            <p:grpSpPr>
              <a:xfrm>
                <a:off x="2123242" y="3425301"/>
                <a:ext cx="6162582" cy="458679"/>
                <a:chOff x="2123242" y="2641107"/>
                <a:chExt cx="6162582" cy="458679"/>
              </a:xfrm>
            </p:grpSpPr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49C5543B-BAD8-67DD-B6E3-4DF5B61D647D}"/>
                    </a:ext>
                  </a:extLst>
                </p:cNvPr>
                <p:cNvSpPr/>
                <p:nvPr/>
              </p:nvSpPr>
              <p:spPr>
                <a:xfrm>
                  <a:off x="2123243" y="2641107"/>
                  <a:ext cx="5696503" cy="458679"/>
                </a:xfrm>
                <a:prstGeom prst="roundRect">
                  <a:avLst/>
                </a:prstGeom>
                <a:solidFill>
                  <a:srgbClr val="153557"/>
                </a:solidFill>
                <a:ln>
                  <a:solidFill>
                    <a:srgbClr val="34537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29603DBF-FD15-C43D-FAF9-1D8C5048D5A9}"/>
                    </a:ext>
                  </a:extLst>
                </p:cNvPr>
                <p:cNvSpPr txBox="1"/>
                <p:nvPr/>
              </p:nvSpPr>
              <p:spPr>
                <a:xfrm>
                  <a:off x="2123242" y="2663300"/>
                  <a:ext cx="1376039" cy="338554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GB" sz="1600">
                      <a:solidFill>
                        <a:srgbClr val="FFBA0A"/>
                      </a:solidFill>
                      <a:latin typeface="Aptos"/>
                      <a:ea typeface="Cambria"/>
                      <a:cs typeface="Calibri"/>
                    </a:rPr>
                    <a:t>User App</a:t>
                  </a:r>
                  <a:endParaRPr lang="en-GB" sz="1600">
                    <a:solidFill>
                      <a:srgbClr val="FFBA0A"/>
                    </a:solidFill>
                    <a:latin typeface="Aptos"/>
                    <a:ea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7D1960E3-FE4A-7C43-863A-BB176320D69C}"/>
                    </a:ext>
                  </a:extLst>
                </p:cNvPr>
                <p:cNvSpPr txBox="1"/>
                <p:nvPr/>
              </p:nvSpPr>
              <p:spPr>
                <a:xfrm>
                  <a:off x="3625048" y="2700290"/>
                  <a:ext cx="4660776" cy="338554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GB" sz="1600" dirty="0">
                      <a:solidFill>
                        <a:srgbClr val="F9FAFC"/>
                      </a:solidFill>
                      <a:ea typeface="+mn-lt"/>
                      <a:cs typeface="+mn-lt"/>
                    </a:rPr>
                    <a:t>https://mwasalaty.duckdns.org</a:t>
                  </a:r>
                  <a:endParaRPr lang="en-US" dirty="0">
                    <a:ea typeface="+mn-lt"/>
                    <a:cs typeface="+mn-lt"/>
                  </a:endParaRPr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1EC22FF8-82B6-C6E0-1E5F-FE73BC00494B}"/>
                  </a:ext>
                </a:extLst>
              </p:cNvPr>
              <p:cNvGrpSpPr/>
              <p:nvPr/>
            </p:nvGrpSpPr>
            <p:grpSpPr>
              <a:xfrm>
                <a:off x="2123242" y="4224291"/>
                <a:ext cx="6162582" cy="458679"/>
                <a:chOff x="2123242" y="2641107"/>
                <a:chExt cx="6162582" cy="458679"/>
              </a:xfrm>
            </p:grpSpPr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7440EE1E-6956-D699-7BCD-895D05118B3D}"/>
                    </a:ext>
                  </a:extLst>
                </p:cNvPr>
                <p:cNvSpPr/>
                <p:nvPr/>
              </p:nvSpPr>
              <p:spPr>
                <a:xfrm>
                  <a:off x="2123243" y="2641107"/>
                  <a:ext cx="5696503" cy="458679"/>
                </a:xfrm>
                <a:prstGeom prst="roundRect">
                  <a:avLst/>
                </a:prstGeom>
                <a:solidFill>
                  <a:srgbClr val="153557"/>
                </a:solidFill>
                <a:ln>
                  <a:solidFill>
                    <a:srgbClr val="34537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E6ED6FB-1502-E6D9-11B5-B94B36D78734}"/>
                    </a:ext>
                  </a:extLst>
                </p:cNvPr>
                <p:cNvSpPr txBox="1"/>
                <p:nvPr/>
              </p:nvSpPr>
              <p:spPr>
                <a:xfrm>
                  <a:off x="2123242" y="2663300"/>
                  <a:ext cx="1376039" cy="338554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GB" sz="1600">
                      <a:solidFill>
                        <a:srgbClr val="FFBA0A"/>
                      </a:solidFill>
                      <a:latin typeface="Aptos"/>
                      <a:ea typeface="Cambria"/>
                      <a:cs typeface="Calibri" panose="020F0502020204030204"/>
                    </a:rPr>
                    <a:t>Admin App</a:t>
                  </a:r>
                  <a:endParaRPr lang="en-GB" sz="1600" dirty="0">
                    <a:solidFill>
                      <a:srgbClr val="FFBA0A"/>
                    </a:solidFill>
                    <a:latin typeface="Aptos"/>
                    <a:ea typeface="Cambria"/>
                    <a:cs typeface="Calibri" panose="020F0502020204030204"/>
                  </a:endParaRP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0AC01F3-66B9-0F9D-C9B3-18CE46739D88}"/>
                    </a:ext>
                  </a:extLst>
                </p:cNvPr>
                <p:cNvSpPr txBox="1"/>
                <p:nvPr/>
              </p:nvSpPr>
              <p:spPr>
                <a:xfrm>
                  <a:off x="3625048" y="2700290"/>
                  <a:ext cx="4660776" cy="338554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GB" sz="1600" dirty="0">
                      <a:solidFill>
                        <a:srgbClr val="F9FAFC"/>
                      </a:solidFill>
                      <a:ea typeface="+mn-lt"/>
                      <a:cs typeface="+mn-lt"/>
                    </a:rPr>
                    <a:t>https://mwasalaty.duckdns.org/admin</a:t>
                  </a:r>
                  <a:endParaRPr lang="en-US" dirty="0"/>
                </a:p>
              </p:txBody>
            </p: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D84D8C75-76A9-C221-5326-DD2BC0868016}"/>
                  </a:ext>
                </a:extLst>
              </p:cNvPr>
              <p:cNvGrpSpPr/>
              <p:nvPr/>
            </p:nvGrpSpPr>
            <p:grpSpPr>
              <a:xfrm>
                <a:off x="2123242" y="5001087"/>
                <a:ext cx="6162582" cy="458679"/>
                <a:chOff x="2123242" y="2641107"/>
                <a:chExt cx="6162582" cy="458679"/>
              </a:xfrm>
            </p:grpSpPr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229B71D4-CBA2-2796-31F3-B3F23F452EA9}"/>
                    </a:ext>
                  </a:extLst>
                </p:cNvPr>
                <p:cNvSpPr/>
                <p:nvPr/>
              </p:nvSpPr>
              <p:spPr>
                <a:xfrm>
                  <a:off x="2123243" y="2641107"/>
                  <a:ext cx="5696503" cy="458679"/>
                </a:xfrm>
                <a:prstGeom prst="roundRect">
                  <a:avLst/>
                </a:prstGeom>
                <a:solidFill>
                  <a:srgbClr val="153557"/>
                </a:solidFill>
                <a:ln>
                  <a:solidFill>
                    <a:srgbClr val="34537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84B6F1E-CD1F-377C-433C-03E2E632359F}"/>
                    </a:ext>
                  </a:extLst>
                </p:cNvPr>
                <p:cNvSpPr txBox="1"/>
                <p:nvPr/>
              </p:nvSpPr>
              <p:spPr>
                <a:xfrm>
                  <a:off x="2123242" y="2700290"/>
                  <a:ext cx="1538794" cy="338554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GB" sz="1600">
                      <a:solidFill>
                        <a:srgbClr val="FFBA0A"/>
                      </a:solidFill>
                      <a:latin typeface="Aptos"/>
                      <a:ea typeface="Cambria"/>
                      <a:cs typeface="Calibri"/>
                    </a:rPr>
                    <a:t>Operator App</a:t>
                  </a:r>
                  <a:endParaRPr lang="en-GB">
                    <a:solidFill>
                      <a:srgbClr val="FFBA0A"/>
                    </a:solidFill>
                    <a:latin typeface="Aptos"/>
                    <a:ea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842D3F5-B4C9-40ED-8BB3-365497ECC72D}"/>
                    </a:ext>
                  </a:extLst>
                </p:cNvPr>
                <p:cNvSpPr txBox="1"/>
                <p:nvPr/>
              </p:nvSpPr>
              <p:spPr>
                <a:xfrm>
                  <a:off x="3625048" y="2700290"/>
                  <a:ext cx="4660776" cy="338554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GB" sz="1600" dirty="0">
                      <a:solidFill>
                        <a:srgbClr val="F9FAFC"/>
                      </a:solidFill>
                      <a:ea typeface="+mn-lt"/>
                      <a:cs typeface="+mn-lt"/>
                    </a:rPr>
                    <a:t>https://operator.mwasalaty.duckdns.org</a:t>
                  </a:r>
                  <a:endParaRPr lang="en-US" dirty="0"/>
                </a:p>
              </p:txBody>
            </p:sp>
          </p:grpSp>
        </p:grpSp>
        <p:pic>
          <p:nvPicPr>
            <p:cNvPr id="56" name="Picture 55" descr="A logo on a black background&#10;&#10;AI-generated content may be incorrect.">
              <a:extLst>
                <a:ext uri="{FF2B5EF4-FFF2-40B4-BE49-F238E27FC236}">
                  <a16:creationId xmlns:a16="http://schemas.microsoft.com/office/drawing/2014/main" id="{1058735D-0078-DC4E-2F22-74C441D15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2745" t="7882" r="14118" b="15763"/>
            <a:stretch>
              <a:fillRect/>
            </a:stretch>
          </p:blipFill>
          <p:spPr>
            <a:xfrm>
              <a:off x="7362290" y="2988815"/>
              <a:ext cx="2763103" cy="2287756"/>
            </a:xfrm>
            <a:prstGeom prst="rect">
              <a:avLst/>
            </a:prstGeom>
            <a:ln>
              <a:noFill/>
            </a:ln>
          </p:spPr>
        </p:pic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30F9550-945C-F628-3FA6-70964304A2A6}"/>
                </a:ext>
              </a:extLst>
            </p:cNvPr>
            <p:cNvSpPr/>
            <p:nvPr/>
          </p:nvSpPr>
          <p:spPr>
            <a:xfrm>
              <a:off x="7175974" y="2606962"/>
              <a:ext cx="3135923" cy="3062653"/>
            </a:xfrm>
            <a:prstGeom prst="ellipse">
              <a:avLst/>
            </a:prstGeom>
            <a:noFill/>
            <a:ln w="12700">
              <a:solidFill>
                <a:srgbClr val="FFBA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69674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896</Words>
  <Application>Microsoft Office PowerPoint</Application>
  <PresentationFormat>Widescreen</PresentationFormat>
  <Paragraphs>161</Paragraphs>
  <Slides>12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Mwasalaty - Graduation Presentation</dc:title>
  <dc:subject>PptxGenJS Presentation</dc:subject>
  <dc:creator>Sarrah</dc:creator>
  <cp:lastModifiedBy>sarahendawy50@gmail.com</cp:lastModifiedBy>
  <cp:revision>424</cp:revision>
  <dcterms:created xsi:type="dcterms:W3CDTF">2026-06-20T01:09:15Z</dcterms:created>
  <dcterms:modified xsi:type="dcterms:W3CDTF">2026-06-22T18:55:22Z</dcterms:modified>
</cp:coreProperties>
</file>